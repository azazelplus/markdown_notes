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  <p:sldMasterId id="2147483672" r:id="rId4"/>
  </p:sldMasterIdLst>
  <p:notesMasterIdLst>
    <p:notesMasterId r:id="rId6"/>
  </p:notesMasterIdLst>
  <p:sldIdLst>
    <p:sldId id="265" r:id="rId5"/>
    <p:sldId id="261" r:id="rId7"/>
    <p:sldId id="260" r:id="rId8"/>
    <p:sldId id="266" r:id="rId9"/>
    <p:sldId id="267" r:id="rId10"/>
    <p:sldId id="262" r:id="rId11"/>
    <p:sldId id="263" r:id="rId12"/>
    <p:sldId id="273" r:id="rId13"/>
    <p:sldId id="275" r:id="rId14"/>
    <p:sldId id="278" r:id="rId15"/>
    <p:sldId id="274" r:id="rId16"/>
    <p:sldId id="264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sym typeface="+mn-ea"/>
            </a:endParaRPr>
          </a:p>
        </p:txBody>
      </p:sp>
      <p:sp>
        <p:nvSpPr>
          <p:cNvPr id="104859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the framework of this presentation is divided into four parts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zh-CN" altLang="en-US" dirty="0"/>
              <a:t>下面介绍</a:t>
            </a:r>
            <a:r>
              <a:rPr lang="en-US" altLang="zh-CN" dirty="0"/>
              <a:t>NPC</a:t>
            </a:r>
            <a:r>
              <a:rPr lang="zh-CN" altLang="en-US" dirty="0"/>
              <a:t>的微架构，目前我使用的是单周期架构，具有取指、译码、执行、访存、写回五个模块。</a:t>
            </a:r>
            <a:br>
              <a:rPr lang="en-US" altLang="zh-CN" dirty="0"/>
            </a:br>
            <a:r>
              <a:rPr lang="zh-CN" altLang="en-US" dirty="0"/>
              <a:t>图中绿色的模块是</a:t>
            </a:r>
            <a:r>
              <a:rPr lang="en-US" altLang="zh-CN" dirty="0"/>
              <a:t>DPI—C</a:t>
            </a:r>
            <a:r>
              <a:rPr lang="zh-CN" altLang="en-US" dirty="0"/>
              <a:t>模块，黑色的是</a:t>
            </a:r>
            <a:r>
              <a:rPr lang="en-US" altLang="zh-CN" dirty="0"/>
              <a:t>RTL</a:t>
            </a:r>
            <a:r>
              <a:rPr lang="zh-CN" altLang="en-US" dirty="0"/>
              <a:t>模块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取指模块实现了</a:t>
            </a:r>
            <a:r>
              <a:rPr lang="en-US" altLang="zh-CN" dirty="0"/>
              <a:t>PC</a:t>
            </a:r>
            <a:r>
              <a:rPr lang="zh-CN" altLang="en-US" dirty="0"/>
              <a:t>的选择和更新以及取指，在调试中还实现了与外界</a:t>
            </a:r>
            <a:r>
              <a:rPr lang="en-US" altLang="zh-CN" dirty="0" err="1"/>
              <a:t>debuger</a:t>
            </a:r>
            <a:r>
              <a:rPr lang="zh-CN" altLang="en-US" dirty="0"/>
              <a:t>同步</a:t>
            </a:r>
            <a:r>
              <a:rPr lang="en-US" altLang="zh-CN" dirty="0"/>
              <a:t>PC</a:t>
            </a:r>
            <a:r>
              <a:rPr lang="zh-CN" altLang="en-US" dirty="0"/>
              <a:t>和指令内容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译码模块实现了控制信号的生成、立即数的生成，</a:t>
            </a:r>
            <a:r>
              <a:rPr lang="en-US" altLang="zh-CN" dirty="0"/>
              <a:t>GPR</a:t>
            </a:r>
            <a:r>
              <a:rPr lang="zh-CN" altLang="en-US" dirty="0"/>
              <a:t>和</a:t>
            </a:r>
            <a:r>
              <a:rPr lang="en-US" altLang="zh-CN" dirty="0"/>
              <a:t>CSR</a:t>
            </a:r>
            <a:r>
              <a:rPr lang="zh-CN" altLang="en-US" dirty="0"/>
              <a:t>寄存器堆也放在了这里。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执行模块包含一个</a:t>
            </a:r>
            <a:r>
              <a:rPr lang="en-US" altLang="zh-CN" dirty="0"/>
              <a:t>ALU</a:t>
            </a:r>
            <a:r>
              <a:rPr lang="zh-CN" altLang="en-US" dirty="0"/>
              <a:t>和一个专用于</a:t>
            </a:r>
            <a:r>
              <a:rPr lang="en-US" altLang="zh-CN" dirty="0"/>
              <a:t>PC+</a:t>
            </a:r>
            <a:r>
              <a:rPr lang="zh-CN" altLang="en-US" dirty="0"/>
              <a:t>立即数的加法器以及</a:t>
            </a:r>
            <a:r>
              <a:rPr lang="en-US" altLang="zh-CN" dirty="0"/>
              <a:t>CSR</a:t>
            </a:r>
            <a:r>
              <a:rPr lang="zh-CN" altLang="en-US" dirty="0"/>
              <a:t>的更新逻辑。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访存模块利用</a:t>
            </a:r>
            <a:r>
              <a:rPr lang="en-US" altLang="zh-CN" dirty="0"/>
              <a:t>DPI-C</a:t>
            </a:r>
            <a:r>
              <a:rPr lang="zh-CN" altLang="en-US" dirty="0"/>
              <a:t>连接</a:t>
            </a:r>
            <a:r>
              <a:rPr lang="en-US" altLang="zh-CN" dirty="0"/>
              <a:t>C</a:t>
            </a:r>
            <a:r>
              <a:rPr lang="zh-CN" altLang="en-US" dirty="0"/>
              <a:t>语言的数组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写回模块只有一个</a:t>
            </a:r>
            <a:r>
              <a:rPr lang="en-US" altLang="zh-CN" dirty="0"/>
              <a:t>GPR</a:t>
            </a:r>
            <a:r>
              <a:rPr lang="zh-CN" altLang="en-US" dirty="0"/>
              <a:t>写数据选择器，把正确的</a:t>
            </a:r>
            <a:r>
              <a:rPr lang="en-US" altLang="zh-CN" dirty="0"/>
              <a:t>GPR</a:t>
            </a:r>
            <a:r>
              <a:rPr lang="zh-CN" altLang="en-US" dirty="0"/>
              <a:t>写数据传递到</a:t>
            </a:r>
            <a:r>
              <a:rPr lang="en-US" altLang="zh-CN" dirty="0"/>
              <a:t>GPR</a:t>
            </a:r>
            <a:r>
              <a:rPr lang="zh-CN" altLang="en-US" dirty="0"/>
              <a:t>寄存器堆中。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study focuses the development of a critical age group—9 to 10-year-old children.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aims to answer the question:</a:t>
            </a:r>
            <a:r>
              <a:rPr lang="en-US" altLang="zh-CN" sz="1200" b="1" dirty="0"/>
              <a:t> How does screen time relate to critical developmental outcomes in this age group?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including mental health, behavior, academic performance, sleep, and peer relationships.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zh-CN" altLang="en-US" dirty="0"/>
              <a:t>下面介绍</a:t>
            </a:r>
            <a:r>
              <a:rPr lang="en-US" altLang="zh-CN" dirty="0"/>
              <a:t>NPC</a:t>
            </a:r>
            <a:r>
              <a:rPr lang="zh-CN" altLang="en-US" dirty="0"/>
              <a:t>的微架构，目前我使用的是单周期架构，具有取指、译码、执行、访存、写回五个模块。</a:t>
            </a:r>
            <a:br>
              <a:rPr lang="en-US" altLang="zh-CN" dirty="0"/>
            </a:br>
            <a:r>
              <a:rPr lang="zh-CN" altLang="en-US" dirty="0"/>
              <a:t>图中绿色的模块是</a:t>
            </a:r>
            <a:r>
              <a:rPr lang="en-US" altLang="zh-CN" dirty="0"/>
              <a:t>DPI—C</a:t>
            </a:r>
            <a:r>
              <a:rPr lang="zh-CN" altLang="en-US" dirty="0"/>
              <a:t>模块，黑色的是</a:t>
            </a:r>
            <a:r>
              <a:rPr lang="en-US" altLang="zh-CN" dirty="0"/>
              <a:t>RTL</a:t>
            </a:r>
            <a:r>
              <a:rPr lang="zh-CN" altLang="en-US" dirty="0"/>
              <a:t>模块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取指模块实现了</a:t>
            </a:r>
            <a:r>
              <a:rPr lang="en-US" altLang="zh-CN" dirty="0"/>
              <a:t>PC</a:t>
            </a:r>
            <a:r>
              <a:rPr lang="zh-CN" altLang="en-US" dirty="0"/>
              <a:t>的选择和更新以及取指，在调试中还实现了与外界</a:t>
            </a:r>
            <a:r>
              <a:rPr lang="en-US" altLang="zh-CN" dirty="0" err="1"/>
              <a:t>debuger</a:t>
            </a:r>
            <a:r>
              <a:rPr lang="zh-CN" altLang="en-US" dirty="0"/>
              <a:t>同步</a:t>
            </a:r>
            <a:r>
              <a:rPr lang="en-US" altLang="zh-CN" dirty="0"/>
              <a:t>PC</a:t>
            </a:r>
            <a:r>
              <a:rPr lang="zh-CN" altLang="en-US" dirty="0"/>
              <a:t>和指令内容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译码模块实现了控制信号的生成、立即数的生成，</a:t>
            </a:r>
            <a:r>
              <a:rPr lang="en-US" altLang="zh-CN" dirty="0"/>
              <a:t>GPR</a:t>
            </a:r>
            <a:r>
              <a:rPr lang="zh-CN" altLang="en-US" dirty="0"/>
              <a:t>和</a:t>
            </a:r>
            <a:r>
              <a:rPr lang="en-US" altLang="zh-CN" dirty="0"/>
              <a:t>CSR</a:t>
            </a:r>
            <a:r>
              <a:rPr lang="zh-CN" altLang="en-US" dirty="0"/>
              <a:t>寄存器堆也放在了这里。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执行模块包含一个</a:t>
            </a:r>
            <a:r>
              <a:rPr lang="en-US" altLang="zh-CN" dirty="0"/>
              <a:t>ALU</a:t>
            </a:r>
            <a:r>
              <a:rPr lang="zh-CN" altLang="en-US" dirty="0"/>
              <a:t>和一个专用于</a:t>
            </a:r>
            <a:r>
              <a:rPr lang="en-US" altLang="zh-CN" dirty="0"/>
              <a:t>PC+</a:t>
            </a:r>
            <a:r>
              <a:rPr lang="zh-CN" altLang="en-US" dirty="0"/>
              <a:t>立即数的加法器以及</a:t>
            </a:r>
            <a:r>
              <a:rPr lang="en-US" altLang="zh-CN" dirty="0"/>
              <a:t>CSR</a:t>
            </a:r>
            <a:r>
              <a:rPr lang="zh-CN" altLang="en-US" dirty="0"/>
              <a:t>的更新逻辑。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访存模块利用</a:t>
            </a:r>
            <a:r>
              <a:rPr lang="en-US" altLang="zh-CN" dirty="0"/>
              <a:t>DPI-C</a:t>
            </a:r>
            <a:r>
              <a:rPr lang="zh-CN" altLang="en-US" dirty="0"/>
              <a:t>连接</a:t>
            </a:r>
            <a:r>
              <a:rPr lang="en-US" altLang="zh-CN" dirty="0"/>
              <a:t>C</a:t>
            </a:r>
            <a:r>
              <a:rPr lang="zh-CN" altLang="en-US" dirty="0"/>
              <a:t>语言的数组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写回模块只有一个</a:t>
            </a:r>
            <a:r>
              <a:rPr lang="en-US" altLang="zh-CN" dirty="0"/>
              <a:t>GPR</a:t>
            </a:r>
            <a:r>
              <a:rPr lang="zh-CN" altLang="en-US" dirty="0"/>
              <a:t>写数据选择器，把正确的</a:t>
            </a:r>
            <a:r>
              <a:rPr lang="en-US" altLang="zh-CN" dirty="0"/>
              <a:t>GPR</a:t>
            </a:r>
            <a:r>
              <a:rPr lang="zh-CN" altLang="en-US" dirty="0"/>
              <a:t>写数据传递到</a:t>
            </a:r>
            <a:r>
              <a:rPr lang="en-US" altLang="zh-CN" dirty="0"/>
              <a:t>GPR</a:t>
            </a:r>
            <a:r>
              <a:rPr lang="zh-CN" altLang="en-US" dirty="0"/>
              <a:t>寄存器堆中。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zh-CN" altLang="en-US" dirty="0"/>
              <a:t>下面介绍</a:t>
            </a:r>
            <a:r>
              <a:rPr lang="en-US" altLang="zh-CN" dirty="0"/>
              <a:t>NPC</a:t>
            </a:r>
            <a:r>
              <a:rPr lang="zh-CN" altLang="en-US" dirty="0"/>
              <a:t>的微架构，目前我使用的是单周期架构，具有取指、译码、执行、访存、写回五个模块。</a:t>
            </a:r>
            <a:br>
              <a:rPr lang="en-US" altLang="zh-CN" dirty="0"/>
            </a:br>
            <a:r>
              <a:rPr lang="zh-CN" altLang="en-US" dirty="0"/>
              <a:t>图中绿色的模块是</a:t>
            </a:r>
            <a:r>
              <a:rPr lang="en-US" altLang="zh-CN" dirty="0"/>
              <a:t>DPI—C</a:t>
            </a:r>
            <a:r>
              <a:rPr lang="zh-CN" altLang="en-US" dirty="0"/>
              <a:t>模块，黑色的是</a:t>
            </a:r>
            <a:r>
              <a:rPr lang="en-US" altLang="zh-CN" dirty="0"/>
              <a:t>RTL</a:t>
            </a:r>
            <a:r>
              <a:rPr lang="zh-CN" altLang="en-US" dirty="0"/>
              <a:t>模块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取指模块实现了</a:t>
            </a:r>
            <a:r>
              <a:rPr lang="en-US" altLang="zh-CN" dirty="0"/>
              <a:t>PC</a:t>
            </a:r>
            <a:r>
              <a:rPr lang="zh-CN" altLang="en-US" dirty="0"/>
              <a:t>的选择和更新以及取指，在调试中还实现了与外界</a:t>
            </a:r>
            <a:r>
              <a:rPr lang="en-US" altLang="zh-CN" dirty="0" err="1"/>
              <a:t>debuger</a:t>
            </a:r>
            <a:r>
              <a:rPr lang="zh-CN" altLang="en-US" dirty="0"/>
              <a:t>同步</a:t>
            </a:r>
            <a:r>
              <a:rPr lang="en-US" altLang="zh-CN" dirty="0"/>
              <a:t>PC</a:t>
            </a:r>
            <a:r>
              <a:rPr lang="zh-CN" altLang="en-US" dirty="0"/>
              <a:t>和指令内容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译码模块实现了控制信号的生成、立即数的生成，</a:t>
            </a:r>
            <a:r>
              <a:rPr lang="en-US" altLang="zh-CN" dirty="0"/>
              <a:t>GPR</a:t>
            </a:r>
            <a:r>
              <a:rPr lang="zh-CN" altLang="en-US" dirty="0"/>
              <a:t>和</a:t>
            </a:r>
            <a:r>
              <a:rPr lang="en-US" altLang="zh-CN" dirty="0"/>
              <a:t>CSR</a:t>
            </a:r>
            <a:r>
              <a:rPr lang="zh-CN" altLang="en-US" dirty="0"/>
              <a:t>寄存器堆也放在了这里。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执行模块包含一个</a:t>
            </a:r>
            <a:r>
              <a:rPr lang="en-US" altLang="zh-CN" dirty="0"/>
              <a:t>ALU</a:t>
            </a:r>
            <a:r>
              <a:rPr lang="zh-CN" altLang="en-US" dirty="0"/>
              <a:t>和一个专用于</a:t>
            </a:r>
            <a:r>
              <a:rPr lang="en-US" altLang="zh-CN" dirty="0"/>
              <a:t>PC+</a:t>
            </a:r>
            <a:r>
              <a:rPr lang="zh-CN" altLang="en-US" dirty="0"/>
              <a:t>立即数的加法器以及</a:t>
            </a:r>
            <a:r>
              <a:rPr lang="en-US" altLang="zh-CN" dirty="0"/>
              <a:t>CSR</a:t>
            </a:r>
            <a:r>
              <a:rPr lang="zh-CN" altLang="en-US" dirty="0"/>
              <a:t>的更新逻辑。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访存模块利用</a:t>
            </a:r>
            <a:r>
              <a:rPr lang="en-US" altLang="zh-CN" dirty="0"/>
              <a:t>DPI-C</a:t>
            </a:r>
            <a:r>
              <a:rPr lang="zh-CN" altLang="en-US" dirty="0"/>
              <a:t>连接</a:t>
            </a:r>
            <a:r>
              <a:rPr lang="en-US" altLang="zh-CN" dirty="0"/>
              <a:t>C</a:t>
            </a:r>
            <a:r>
              <a:rPr lang="zh-CN" altLang="en-US" dirty="0"/>
              <a:t>语言的数组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写回模块只有一个</a:t>
            </a:r>
            <a:r>
              <a:rPr lang="en-US" altLang="zh-CN" dirty="0"/>
              <a:t>GPR</a:t>
            </a:r>
            <a:r>
              <a:rPr lang="zh-CN" altLang="en-US" dirty="0"/>
              <a:t>写数据选择器，把正确的</a:t>
            </a:r>
            <a:r>
              <a:rPr lang="en-US" altLang="zh-CN" dirty="0"/>
              <a:t>GPR</a:t>
            </a:r>
            <a:r>
              <a:rPr lang="zh-CN" altLang="en-US" dirty="0"/>
              <a:t>写数据传递到</a:t>
            </a:r>
            <a:r>
              <a:rPr lang="en-US" altLang="zh-CN" dirty="0"/>
              <a:t>GPR</a:t>
            </a:r>
            <a:r>
              <a:rPr lang="zh-CN" altLang="en-US" dirty="0"/>
              <a:t>寄存器堆中。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104861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zh-CN" altLang="en-US" dirty="0"/>
              <a:t>下面介绍</a:t>
            </a:r>
            <a:r>
              <a:rPr lang="en-US" altLang="zh-CN" dirty="0"/>
              <a:t>NPC</a:t>
            </a:r>
            <a:r>
              <a:rPr lang="zh-CN" altLang="en-US" dirty="0"/>
              <a:t>的微架构，目前我使用的是单周期架构，具有取指、译码、执行、访存、写回五个模块。</a:t>
            </a:r>
            <a:br>
              <a:rPr lang="en-US" altLang="zh-CN" dirty="0"/>
            </a:br>
            <a:r>
              <a:rPr lang="zh-CN" altLang="en-US" dirty="0"/>
              <a:t>图中绿色的模块是</a:t>
            </a:r>
            <a:r>
              <a:rPr lang="en-US" altLang="zh-CN" dirty="0"/>
              <a:t>DPI—C</a:t>
            </a:r>
            <a:r>
              <a:rPr lang="zh-CN" altLang="en-US" dirty="0"/>
              <a:t>模块，黑色的是</a:t>
            </a:r>
            <a:r>
              <a:rPr lang="en-US" altLang="zh-CN" dirty="0"/>
              <a:t>RTL</a:t>
            </a:r>
            <a:r>
              <a:rPr lang="zh-CN" altLang="en-US" dirty="0"/>
              <a:t>模块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取指模块实现了</a:t>
            </a:r>
            <a:r>
              <a:rPr lang="en-US" altLang="zh-CN" dirty="0"/>
              <a:t>PC</a:t>
            </a:r>
            <a:r>
              <a:rPr lang="zh-CN" altLang="en-US" dirty="0"/>
              <a:t>的选择和更新以及取指，在调试中还实现了与外界</a:t>
            </a:r>
            <a:r>
              <a:rPr lang="en-US" altLang="zh-CN" dirty="0" err="1"/>
              <a:t>debuger</a:t>
            </a:r>
            <a:r>
              <a:rPr lang="zh-CN" altLang="en-US" dirty="0"/>
              <a:t>同步</a:t>
            </a:r>
            <a:r>
              <a:rPr lang="en-US" altLang="zh-CN" dirty="0"/>
              <a:t>PC</a:t>
            </a:r>
            <a:r>
              <a:rPr lang="zh-CN" altLang="en-US" dirty="0"/>
              <a:t>和指令内容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译码模块实现了控制信号的生成、立即数的生成，</a:t>
            </a:r>
            <a:r>
              <a:rPr lang="en-US" altLang="zh-CN" dirty="0"/>
              <a:t>GPR</a:t>
            </a:r>
            <a:r>
              <a:rPr lang="zh-CN" altLang="en-US" dirty="0"/>
              <a:t>和</a:t>
            </a:r>
            <a:r>
              <a:rPr lang="en-US" altLang="zh-CN" dirty="0"/>
              <a:t>CSR</a:t>
            </a:r>
            <a:r>
              <a:rPr lang="zh-CN" altLang="en-US" dirty="0"/>
              <a:t>寄存器堆也放在了这里。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执行模块包含一个</a:t>
            </a:r>
            <a:r>
              <a:rPr lang="en-US" altLang="zh-CN" dirty="0"/>
              <a:t>ALU</a:t>
            </a:r>
            <a:r>
              <a:rPr lang="zh-CN" altLang="en-US" dirty="0"/>
              <a:t>和一个专用于</a:t>
            </a:r>
            <a:r>
              <a:rPr lang="en-US" altLang="zh-CN" dirty="0"/>
              <a:t>PC+</a:t>
            </a:r>
            <a:r>
              <a:rPr lang="zh-CN" altLang="en-US" dirty="0"/>
              <a:t>立即数的加法器以及</a:t>
            </a:r>
            <a:r>
              <a:rPr lang="en-US" altLang="zh-CN" dirty="0"/>
              <a:t>CSR</a:t>
            </a:r>
            <a:r>
              <a:rPr lang="zh-CN" altLang="en-US" dirty="0"/>
              <a:t>的更新逻辑。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访存模块利用</a:t>
            </a:r>
            <a:r>
              <a:rPr lang="en-US" altLang="zh-CN" dirty="0"/>
              <a:t>DPI-C</a:t>
            </a:r>
            <a:r>
              <a:rPr lang="zh-CN" altLang="en-US" dirty="0"/>
              <a:t>连接</a:t>
            </a:r>
            <a:r>
              <a:rPr lang="en-US" altLang="zh-CN" dirty="0"/>
              <a:t>C</a:t>
            </a:r>
            <a:r>
              <a:rPr lang="zh-CN" altLang="en-US" dirty="0"/>
              <a:t>语言的数组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写回模块只有一个</a:t>
            </a:r>
            <a:r>
              <a:rPr lang="en-US" altLang="zh-CN" dirty="0"/>
              <a:t>GPR</a:t>
            </a:r>
            <a:r>
              <a:rPr lang="zh-CN" altLang="en-US" dirty="0"/>
              <a:t>写数据选择器，把正确的</a:t>
            </a:r>
            <a:r>
              <a:rPr lang="en-US" altLang="zh-CN" dirty="0"/>
              <a:t>GPR</a:t>
            </a:r>
            <a:r>
              <a:rPr lang="zh-CN" altLang="en-US" dirty="0"/>
              <a:t>写数据传递到</a:t>
            </a:r>
            <a:r>
              <a:rPr lang="en-US" altLang="zh-CN" dirty="0"/>
              <a:t>GPR</a:t>
            </a:r>
            <a:r>
              <a:rPr lang="zh-CN" altLang="en-US" dirty="0"/>
              <a:t>寄存器堆中。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33" b="25926"/>
          <a:stretch>
            <a:fillRect/>
          </a:stretch>
        </p:blipFill>
        <p:spPr>
          <a:xfrm>
            <a:off x="0" y="0"/>
            <a:ext cx="9921730" cy="6909263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227769" cy="6909263"/>
          </a:xfrm>
          <a:prstGeom prst="rect">
            <a:avLst/>
          </a:prstGeom>
          <a:gradFill flip="none" rotWithShape="1">
            <a:gsLst>
              <a:gs pos="0">
                <a:srgbClr val="1A5E87">
                  <a:alpha val="85000"/>
                </a:srgbClr>
              </a:gs>
              <a:gs pos="99000">
                <a:srgbClr val="04033F">
                  <a:alpha val="46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1"/>
          <p:cNvSpPr/>
          <p:nvPr userDrawn="1"/>
        </p:nvSpPr>
        <p:spPr>
          <a:xfrm>
            <a:off x="3635492" y="0"/>
            <a:ext cx="8592277" cy="6909262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078548" y="0"/>
            <a:ext cx="3375827" cy="6909262"/>
            <a:chOff x="1531612" y="0"/>
            <a:chExt cx="3375827" cy="685800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531612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1698028" y="5577840"/>
            <a:ext cx="529752" cy="1331422"/>
            <a:chOff x="11489652" y="4991405"/>
            <a:chExt cx="753203" cy="186659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11680176" y="5504185"/>
              <a:ext cx="562679" cy="1353816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7" name="任意多边形: 形状 16"/>
            <p:cNvSpPr/>
            <p:nvPr userDrawn="1"/>
          </p:nvSpPr>
          <p:spPr>
            <a:xfrm>
              <a:off x="11489652" y="4991405"/>
              <a:ext cx="753193" cy="1866596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/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charset="-122"/>
                <a:cs typeface="+mn-cs"/>
              </a:endParaRPr>
            </a:p>
          </p:txBody>
        </p:sp>
        <p:sp>
          <p:nvSpPr>
            <p:cNvPr id="6" name="任意多边形 13"/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 flipH="1" flipV="1">
            <a:off x="0" y="0"/>
            <a:ext cx="1280160" cy="685800"/>
            <a:chOff x="11489653" y="5119600"/>
            <a:chExt cx="702346" cy="1738401"/>
          </a:xfrm>
        </p:grpSpPr>
        <p:sp>
          <p:nvSpPr>
            <p:cNvPr id="11" name="任意多边形: 形状 10"/>
            <p:cNvSpPr/>
            <p:nvPr/>
          </p:nvSpPr>
          <p:spPr>
            <a:xfrm>
              <a:off x="11852771" y="6018366"/>
              <a:ext cx="339228" cy="839635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1623086" y="5449864"/>
              <a:ext cx="568913" cy="1408137"/>
            </a:xfrm>
            <a:custGeom>
              <a:avLst/>
              <a:gdLst>
                <a:gd name="connsiteX0" fmla="*/ 568913 w 568913"/>
                <a:gd name="connsiteY0" fmla="*/ 0 h 1408137"/>
                <a:gd name="connsiteX1" fmla="*/ 568913 w 568913"/>
                <a:gd name="connsiteY1" fmla="*/ 643241 h 1408137"/>
                <a:gd name="connsiteX2" fmla="*/ 259881 w 568913"/>
                <a:gd name="connsiteY2" fmla="*/ 1408137 h 1408137"/>
                <a:gd name="connsiteX3" fmla="*/ 0 w 568913"/>
                <a:gd name="connsiteY3" fmla="*/ 1408137 h 140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8913" h="1408137">
                  <a:moveTo>
                    <a:pt x="568913" y="0"/>
                  </a:moveTo>
                  <a:lnTo>
                    <a:pt x="568913" y="643241"/>
                  </a:lnTo>
                  <a:lnTo>
                    <a:pt x="259881" y="1408137"/>
                  </a:lnTo>
                  <a:lnTo>
                    <a:pt x="0" y="1408137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1489653" y="5119600"/>
              <a:ext cx="702346" cy="1738401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3919"/>
          <a:stretch>
            <a:fillRect/>
          </a:stretch>
        </p:blipFill>
        <p:spPr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4" name="矩形 11"/>
          <p:cNvSpPr/>
          <p:nvPr/>
        </p:nvSpPr>
        <p:spPr>
          <a:xfrm flipH="1">
            <a:off x="0" y="-9329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/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33" b="25926"/>
          <a:stretch>
            <a:fillRect/>
          </a:stretch>
        </p:blipFill>
        <p:spPr>
          <a:xfrm>
            <a:off x="0" y="0"/>
            <a:ext cx="9921730" cy="6909263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227769" cy="6909263"/>
          </a:xfrm>
          <a:prstGeom prst="rect">
            <a:avLst/>
          </a:prstGeom>
          <a:gradFill flip="none" rotWithShape="1">
            <a:gsLst>
              <a:gs pos="0">
                <a:srgbClr val="1A5E87">
                  <a:alpha val="85000"/>
                </a:srgbClr>
              </a:gs>
              <a:gs pos="99000">
                <a:srgbClr val="04033F">
                  <a:alpha val="46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1"/>
          <p:cNvSpPr/>
          <p:nvPr userDrawn="1"/>
        </p:nvSpPr>
        <p:spPr>
          <a:xfrm>
            <a:off x="3635492" y="0"/>
            <a:ext cx="8592277" cy="6909262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078548" y="0"/>
            <a:ext cx="3375827" cy="6909262"/>
            <a:chOff x="1531612" y="0"/>
            <a:chExt cx="3375827" cy="685800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531612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1698028" y="5577840"/>
            <a:ext cx="529752" cy="1331422"/>
            <a:chOff x="11489652" y="4991405"/>
            <a:chExt cx="753203" cy="186659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11680176" y="5504185"/>
              <a:ext cx="562679" cy="1353816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7" name="任意多边形: 形状 16"/>
            <p:cNvSpPr/>
            <p:nvPr userDrawn="1"/>
          </p:nvSpPr>
          <p:spPr>
            <a:xfrm>
              <a:off x="11489652" y="4991405"/>
              <a:ext cx="753193" cy="1866596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926"/>
            <a:stretch>
              <a:fillRect/>
            </a:stretch>
          </p:blipFill>
          <p:spPr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/>
            <p:cNvSpPr/>
            <p:nvPr userDrawn="1"/>
          </p:nvSpPr>
          <p:spPr>
            <a:xfrm>
              <a:off x="-61453" y="0"/>
              <a:ext cx="12314903" cy="6898112"/>
            </a:xfrm>
            <a:prstGeom prst="rect">
              <a:avLst/>
            </a:prstGeom>
            <a:gradFill flip="none" rotWithShape="1"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/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charset="-122"/>
                <a:cs typeface="+mn-cs"/>
              </a:endParaRPr>
            </a:p>
          </p:txBody>
        </p:sp>
        <p:sp>
          <p:nvSpPr>
            <p:cNvPr id="6" name="任意多边形 13"/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1048592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4859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9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sp>
        <p:nvSpPr>
          <p:cNvPr id="104859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04861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038910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04862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119933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0486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027335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0486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powerpoint template design by DAJU_PPT正版来源小红书大橘PPT微信DAJU_PPT请勿抄袭搬运！盗版必究！"/>
          <p:cNvSpPr txBox="1"/>
          <p:nvPr/>
        </p:nvSpPr>
        <p:spPr>
          <a:xfrm>
            <a:off x="4385310" y="4587887"/>
            <a:ext cx="3657600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学校：西安交通大学</a:t>
            </a:r>
            <a:endParaRPr lang="zh-CN" altLang="en-US" sz="18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1048583" name="powerpoint template design by DAJU_PPT正版来源小红书大橘PPT微信DAJU_PPT请勿抄袭搬运！盗版必究！"/>
          <p:cNvSpPr txBox="1"/>
          <p:nvPr/>
        </p:nvSpPr>
        <p:spPr>
          <a:xfrm>
            <a:off x="4385310" y="3662412"/>
            <a:ext cx="3657600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姓名：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王淙豫</a:t>
            </a:r>
            <a:endParaRPr lang="zh-CN" altLang="en-US" sz="18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1048584" name="powerpoint template design by DAJU_PPT正版来源小红书大橘PPT微信DAJU_PPT请勿抄袭搬运！盗版必究！"/>
          <p:cNvSpPr txBox="1"/>
          <p:nvPr/>
        </p:nvSpPr>
        <p:spPr>
          <a:xfrm>
            <a:off x="0" y="2398343"/>
            <a:ext cx="11108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 algn="ctr"/>
            <a:r>
              <a:rPr lang="zh-CN" altLang="en-US" sz="4000" b="1" spc="300" dirty="0">
                <a:cs typeface="+mn-ea"/>
                <a:sym typeface="+mn-lt"/>
              </a:rPr>
              <a:t> </a:t>
            </a:r>
            <a:r>
              <a:rPr lang="en-US" altLang="zh-CN" sz="4000" b="1" spc="300" dirty="0">
                <a:cs typeface="+mn-ea"/>
                <a:sym typeface="+mn-lt"/>
              </a:rPr>
              <a:t>YSYX--</a:t>
            </a:r>
            <a:r>
              <a:rPr lang="en-US" altLang="zh-CN" sz="4000" b="1" spc="300" dirty="0">
                <a:cs typeface="+mn-ea"/>
                <a:sym typeface="+mn-lt"/>
              </a:rPr>
              <a:t>C</a:t>
            </a:r>
            <a:r>
              <a:rPr lang="zh-CN" altLang="en-US" sz="4000" b="1" spc="300" dirty="0">
                <a:cs typeface="+mn-ea"/>
                <a:sym typeface="+mn-lt"/>
              </a:rPr>
              <a:t>阶段答辩</a:t>
            </a:r>
            <a:r>
              <a:rPr lang="en-US" altLang="zh-CN" sz="4000" b="1" spc="300" dirty="0">
                <a:cs typeface="+mn-ea"/>
                <a:sym typeface="+mn-lt"/>
              </a:rPr>
              <a:t> </a:t>
            </a:r>
            <a:endParaRPr lang="en-US" altLang="zh-CN" sz="3200" b="1" spc="-150" dirty="0">
              <a:cs typeface="+mn-ea"/>
              <a:sym typeface="+mn-lt"/>
            </a:endParaRPr>
          </a:p>
        </p:txBody>
      </p:sp>
      <p:sp>
        <p:nvSpPr>
          <p:cNvPr id="1048585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endParaRPr lang="en-US" altLang="zh-CN" sz="1400" spc="-1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586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7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312420"/>
            <a:ext cx="2211705" cy="2042160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4385310" y="4125149"/>
            <a:ext cx="3657600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学号：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ysyx_25110286</a:t>
            </a:r>
            <a:endParaRPr lang="en-US" altLang="zh-CN" sz="18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300">
        <p:fade/>
      </p:transition>
    </mc:Choice>
    <mc:Fallback>
      <p:transition advTm="13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76"/>
          <p:cNvSpPr/>
          <p:nvPr/>
        </p:nvSpPr>
        <p:spPr>
          <a:xfrm flipH="1">
            <a:off x="472439" y="319249"/>
            <a:ext cx="1589824" cy="1441259"/>
          </a:xfrm>
          <a:custGeom>
            <a:avLst/>
            <a:gdLst>
              <a:gd name="connsiteX0" fmla="*/ 5148624 w 5999018"/>
              <a:gd name="connsiteY0" fmla="*/ 0 h 1700788"/>
              <a:gd name="connsiteX1" fmla="*/ 3953495 w 5999018"/>
              <a:gd name="connsiteY1" fmla="*/ 0 h 1700788"/>
              <a:gd name="connsiteX2" fmla="*/ 1195129 w 5999018"/>
              <a:gd name="connsiteY2" fmla="*/ 0 h 1700788"/>
              <a:gd name="connsiteX3" fmla="*/ 0 w 5999018"/>
              <a:gd name="connsiteY3" fmla="*/ 0 h 1700788"/>
              <a:gd name="connsiteX4" fmla="*/ 0 w 5999018"/>
              <a:gd name="connsiteY4" fmla="*/ 1700788 h 1700788"/>
              <a:gd name="connsiteX5" fmla="*/ 1195129 w 5999018"/>
              <a:gd name="connsiteY5" fmla="*/ 1700788 h 1700788"/>
              <a:gd name="connsiteX6" fmla="*/ 3953495 w 5999018"/>
              <a:gd name="connsiteY6" fmla="*/ 1700788 h 1700788"/>
              <a:gd name="connsiteX7" fmla="*/ 5148624 w 5999018"/>
              <a:gd name="connsiteY7" fmla="*/ 1700788 h 1700788"/>
              <a:gd name="connsiteX8" fmla="*/ 5999018 w 5999018"/>
              <a:gd name="connsiteY8" fmla="*/ 850394 h 17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99018" h="1700788">
                <a:moveTo>
                  <a:pt x="5148624" y="0"/>
                </a:moveTo>
                <a:lnTo>
                  <a:pt x="3953495" y="0"/>
                </a:lnTo>
                <a:lnTo>
                  <a:pt x="1195129" y="0"/>
                </a:lnTo>
                <a:lnTo>
                  <a:pt x="0" y="0"/>
                </a:lnTo>
                <a:lnTo>
                  <a:pt x="0" y="1700788"/>
                </a:lnTo>
                <a:lnTo>
                  <a:pt x="1195129" y="1700788"/>
                </a:lnTo>
                <a:lnTo>
                  <a:pt x="3953495" y="1700788"/>
                </a:lnTo>
                <a:lnTo>
                  <a:pt x="5148624" y="1700788"/>
                </a:lnTo>
                <a:lnTo>
                  <a:pt x="5999018" y="85039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50000"/>
                </a:schemeClr>
              </a:gs>
              <a:gs pos="100000">
                <a:srgbClr val="0070C0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文本占位符 1"/>
          <p:cNvSpPr txBox="1"/>
          <p:nvPr/>
        </p:nvSpPr>
        <p:spPr>
          <a:xfrm>
            <a:off x="2003123" y="920780"/>
            <a:ext cx="3754877" cy="663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4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ONTENTS</a:t>
            </a:r>
            <a:endParaRPr kumimoji="0" lang="en-US" altLang="zh-CN" sz="44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1041" y="381259"/>
            <a:ext cx="1052830" cy="14452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C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472439" y="2263930"/>
            <a:ext cx="5049766" cy="589473"/>
            <a:chOff x="6676062" y="1485494"/>
            <a:chExt cx="5049766" cy="589473"/>
          </a:xfrm>
        </p:grpSpPr>
        <p:grpSp>
          <p:nvGrpSpPr>
            <p:cNvPr id="44" name="组合 43"/>
            <p:cNvGrpSpPr/>
            <p:nvPr/>
          </p:nvGrpSpPr>
          <p:grpSpPr>
            <a:xfrm>
              <a:off x="6676062" y="1485494"/>
              <a:ext cx="679374" cy="589473"/>
              <a:chOff x="725726" y="1781746"/>
              <a:chExt cx="515267" cy="515267"/>
            </a:xfrm>
          </p:grpSpPr>
          <p:sp>
            <p:nvSpPr>
              <p:cNvPr id="46" name="椭圆 45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725726" y="1781746"/>
                <a:ext cx="515267" cy="515267"/>
              </a:xfrm>
              <a:prstGeom prst="ellipse">
                <a:avLst/>
              </a:prstGeom>
              <a:gradFill>
                <a:gsLst>
                  <a:gs pos="0">
                    <a:srgbClr val="FBFBFB"/>
                  </a:gs>
                  <a:gs pos="100000">
                    <a:srgbClr val="CBCFD0"/>
                  </a:gs>
                </a:gsLst>
                <a:lin ang="19800000" scaled="0"/>
              </a:gradFill>
              <a:ln w="22225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alatino" charset="0"/>
                  <a:ea typeface="华文宋体" panose="02010600040101010101" charset="-122"/>
                  <a:cs typeface="+mn-cs"/>
                  <a:sym typeface="Palatino" charset="0"/>
                </a:endParaRPr>
              </a:p>
            </p:txBody>
          </p:sp>
          <p:sp>
            <p:nvSpPr>
              <p:cNvPr id="47" name="矩形 46"/>
              <p:cNvSpPr/>
              <p:nvPr>
                <p:custDataLst>
                  <p:tags r:id="rId3"/>
                </p:custDataLst>
              </p:nvPr>
            </p:nvSpPr>
            <p:spPr>
              <a:xfrm>
                <a:off x="792109" y="1823935"/>
                <a:ext cx="389296" cy="457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tencil" panose="040409050D0802020404" pitchFamily="82" charset="0"/>
                    <a:ea typeface="等线" panose="02010600030101010101" charset="-122"/>
                    <a:cs typeface="+mn-cs"/>
                  </a:rPr>
                  <a:t>01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45" name="矩形 44"/>
            <p:cNvSpPr/>
            <p:nvPr>
              <p:custDataLst>
                <p:tags r:id="rId4"/>
              </p:custDataLst>
            </p:nvPr>
          </p:nvSpPr>
          <p:spPr>
            <a:xfrm>
              <a:off x="8894998" y="1571157"/>
              <a:ext cx="2830830" cy="4781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dist">
                <a:lnSpc>
                  <a:spcPct val="90000"/>
                </a:lnSpc>
                <a:spcBef>
                  <a:spcPts val="1000"/>
                </a:spcBef>
                <a:defRPr/>
              </a:pPr>
              <a:r>
                <a:rPr lang="en-US" altLang="zh-CN" sz="2800" b="1" dirty="0">
                  <a:gradFill>
                    <a:gsLst>
                      <a:gs pos="0">
                        <a:srgbClr val="4472C4">
                          <a:lumMod val="50000"/>
                        </a:srgbClr>
                      </a:gs>
                      <a:gs pos="100000">
                        <a:srgbClr val="0070C0"/>
                      </a:gs>
                    </a:gsLst>
                    <a:lin ang="0" scaled="1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npc2</a:t>
              </a:r>
              <a:r>
                <a:rPr lang="zh-CN" altLang="en-US" sz="2800" b="1" dirty="0">
                  <a:gradFill>
                    <a:gsLst>
                      <a:gs pos="0">
                        <a:srgbClr val="4472C4">
                          <a:lumMod val="50000"/>
                        </a:srgbClr>
                      </a:gs>
                      <a:gs pos="100000">
                        <a:srgbClr val="0070C0"/>
                      </a:gs>
                    </a:gsLst>
                    <a:lin ang="0" scaled="1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的架构介绍</a:t>
              </a:r>
              <a:endParaRPr lang="en-US" altLang="zh-CN" sz="28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5"/>
            </p:custDataLst>
          </p:nvPr>
        </p:nvGrpSpPr>
        <p:grpSpPr>
          <a:xfrm>
            <a:off x="472439" y="3218506"/>
            <a:ext cx="7952432" cy="589473"/>
            <a:chOff x="6676062" y="2441885"/>
            <a:chExt cx="7952432" cy="589473"/>
          </a:xfrm>
        </p:grpSpPr>
        <p:sp>
          <p:nvSpPr>
            <p:cNvPr id="36" name="矩形 35"/>
            <p:cNvSpPr/>
            <p:nvPr>
              <p:custDataLst>
                <p:tags r:id="rId6"/>
              </p:custDataLst>
            </p:nvPr>
          </p:nvSpPr>
          <p:spPr>
            <a:xfrm>
              <a:off x="7408947" y="2521690"/>
              <a:ext cx="7219547" cy="4781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14400" lvl="2" indent="457200">
                <a:lnSpc>
                  <a:spcPct val="90000"/>
                </a:lnSpc>
                <a:spcBef>
                  <a:spcPts val="1000"/>
                </a:spcBef>
                <a:defRPr/>
              </a:pPr>
              <a:r>
                <a:rPr lang="en-US" altLang="zh-CN" sz="2800" b="1" dirty="0">
                  <a:gradFill>
                    <a:gsLst>
                      <a:gs pos="0">
                        <a:srgbClr val="4472C4">
                          <a:lumMod val="50000"/>
                        </a:srgbClr>
                      </a:gs>
                      <a:gs pos="100000">
                        <a:srgbClr val="0070C0"/>
                      </a:gs>
                    </a:gsLst>
                    <a:lin ang="0" scaled="1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nemu&amp;am</a:t>
              </a:r>
              <a:r>
                <a:rPr lang="zh-CN" altLang="en-US" sz="2800" b="1" dirty="0">
                  <a:gradFill>
                    <a:gsLst>
                      <a:gs pos="0">
                        <a:srgbClr val="4472C4">
                          <a:lumMod val="50000"/>
                        </a:srgbClr>
                      </a:gs>
                      <a:gs pos="100000">
                        <a:srgbClr val="0070C0"/>
                      </a:gs>
                    </a:gsLst>
                    <a:lin ang="0" scaled="1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端展示</a:t>
              </a:r>
              <a:endParaRPr lang="zh-CN" altLang="en-US" sz="28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6676062" y="2441885"/>
              <a:ext cx="676565" cy="589473"/>
              <a:chOff x="725726" y="1781746"/>
              <a:chExt cx="515267" cy="515267"/>
            </a:xfrm>
          </p:grpSpPr>
          <p:sp>
            <p:nvSpPr>
              <p:cNvPr id="38" name="椭圆 37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25726" y="1781746"/>
                <a:ext cx="515267" cy="515267"/>
              </a:xfrm>
              <a:prstGeom prst="ellipse">
                <a:avLst/>
              </a:prstGeom>
              <a:gradFill>
                <a:gsLst>
                  <a:gs pos="0">
                    <a:srgbClr val="FBFBFB"/>
                  </a:gs>
                  <a:gs pos="100000">
                    <a:srgbClr val="CBCFD0"/>
                  </a:gs>
                </a:gsLst>
                <a:lin ang="19800000" scaled="0"/>
              </a:gradFill>
              <a:ln w="22225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alatino" charset="0"/>
                  <a:ea typeface="华文宋体" panose="02010600040101010101" charset="-122"/>
                  <a:cs typeface="+mn-cs"/>
                  <a:sym typeface="Palatino" charset="0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774821" y="1823935"/>
                <a:ext cx="423874" cy="457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tencil" panose="040409050D0802020404" pitchFamily="82" charset="0"/>
                    <a:ea typeface="等线" panose="02010600030101010101" charset="-122"/>
                    <a:cs typeface="+mn-cs"/>
                  </a:rPr>
                  <a:t>02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charset="-122"/>
                  <a:cs typeface="+mn-cs"/>
                </a:endParaRPr>
              </a:p>
            </p:txBody>
          </p:sp>
        </p:grpSp>
      </p:grpSp>
      <p:grpSp>
        <p:nvGrpSpPr>
          <p:cNvPr id="27" name="组合 26"/>
          <p:cNvGrpSpPr/>
          <p:nvPr>
            <p:custDataLst>
              <p:tags r:id="rId9"/>
            </p:custDataLst>
          </p:nvPr>
        </p:nvGrpSpPr>
        <p:grpSpPr>
          <a:xfrm>
            <a:off x="472439" y="4173630"/>
            <a:ext cx="4653497" cy="589473"/>
            <a:chOff x="6676062" y="3398276"/>
            <a:chExt cx="4653497" cy="589473"/>
          </a:xfrm>
        </p:grpSpPr>
        <p:grpSp>
          <p:nvGrpSpPr>
            <p:cNvPr id="28" name="组合 27"/>
            <p:cNvGrpSpPr/>
            <p:nvPr/>
          </p:nvGrpSpPr>
          <p:grpSpPr>
            <a:xfrm>
              <a:off x="6676062" y="3398276"/>
              <a:ext cx="677509" cy="589473"/>
              <a:chOff x="725726" y="1781746"/>
              <a:chExt cx="515267" cy="515267"/>
            </a:xfrm>
          </p:grpSpPr>
          <p:sp>
            <p:nvSpPr>
              <p:cNvPr id="30" name="椭圆 29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25726" y="1781746"/>
                <a:ext cx="515267" cy="515267"/>
              </a:xfrm>
              <a:prstGeom prst="ellipse">
                <a:avLst/>
              </a:prstGeom>
              <a:gradFill>
                <a:gsLst>
                  <a:gs pos="0">
                    <a:srgbClr val="FBFBFB"/>
                  </a:gs>
                  <a:gs pos="100000">
                    <a:srgbClr val="CBCFD0"/>
                  </a:gs>
                </a:gsLst>
                <a:lin ang="19800000" scaled="0"/>
              </a:gradFill>
              <a:ln w="22225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alatino" charset="0"/>
                  <a:ea typeface="华文宋体" panose="02010600040101010101" charset="-122"/>
                  <a:cs typeface="+mn-cs"/>
                  <a:sym typeface="Palatino" charset="0"/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770850" y="1823935"/>
                <a:ext cx="431817" cy="457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tencil" panose="040409050D0802020404" pitchFamily="82" charset="0"/>
                    <a:ea typeface="等线" panose="02010600030101010101" charset="-122"/>
                    <a:cs typeface="+mn-cs"/>
                  </a:rPr>
                  <a:t>03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29" name="矩形 28"/>
            <p:cNvSpPr/>
            <p:nvPr>
              <p:custDataLst>
                <p:tags r:id="rId12"/>
              </p:custDataLst>
            </p:nvPr>
          </p:nvSpPr>
          <p:spPr>
            <a:xfrm>
              <a:off x="9649984" y="3471676"/>
              <a:ext cx="1679575" cy="4781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  <a:spcBef>
                  <a:spcPts val="1000"/>
                </a:spcBef>
                <a:defRPr/>
              </a:pPr>
              <a:r>
                <a:rPr lang="en-US" altLang="zh-CN" sz="2800" b="1" dirty="0">
                  <a:gradFill>
                    <a:gsLst>
                      <a:gs pos="0">
                        <a:srgbClr val="4472C4">
                          <a:lumMod val="50000"/>
                        </a:srgbClr>
                      </a:gs>
                      <a:gs pos="100000">
                        <a:srgbClr val="0070C0"/>
                      </a:gs>
                    </a:gsLst>
                    <a:lin ang="0" scaled="1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VGA</a:t>
              </a:r>
              <a:r>
                <a:rPr lang="zh-CN" altLang="en-US" sz="2800" b="1" dirty="0">
                  <a:gradFill>
                    <a:gsLst>
                      <a:gs pos="0">
                        <a:srgbClr val="4472C4">
                          <a:lumMod val="50000"/>
                        </a:srgbClr>
                      </a:gs>
                      <a:gs pos="100000">
                        <a:srgbClr val="0070C0"/>
                      </a:gs>
                    </a:gsLst>
                    <a:lin ang="0" scaled="1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分析</a:t>
              </a:r>
              <a:endParaRPr lang="en-US" altLang="zh-CN" sz="28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4"/>
    </mc:Choice>
    <mc:Fallback>
      <p:transition spd="slow" advTm="1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01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104130" y="3993515"/>
            <a:ext cx="6682740" cy="523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npc2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的架构介绍</a:t>
            </a: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硬件</a:t>
            </a: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sz="32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"/>
    </mc:Choice>
    <mc:Fallback>
      <p:transition spd="slow" advTm="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</a:rPr>
              <a:t>简易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</a:rPr>
              <a:t>chisel架构图</a:t>
            </a:r>
            <a:endParaRPr lang="en-US" altLang="zh-CN" sz="2400" b="1" kern="0" dirty="0">
              <a:solidFill>
                <a:schemeClr val="bg1"/>
              </a:solidFill>
              <a:cs typeface="+mn-ea"/>
            </a:endParaRP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2" name="标题 2"/>
          <p:cNvSpPr>
            <a:spLocks noGrp="1"/>
          </p:cNvSpPr>
          <p:nvPr>
            <p:ph type="title"/>
          </p:nvPr>
        </p:nvSpPr>
        <p:spPr>
          <a:xfrm>
            <a:off x="191770" y="805815"/>
            <a:ext cx="2622550" cy="600710"/>
          </a:xfrm>
        </p:spPr>
        <p:txBody>
          <a:bodyPr wrap="square">
            <a:noAutofit/>
          </a:bodyPr>
          <a:lstStyle/>
          <a:p>
            <a:r>
              <a:rPr sz="900" dirty="0"/>
              <a:t>下图是</a:t>
            </a:r>
            <a:r>
              <a:rPr lang="en-US" altLang="zh-CN" sz="900" dirty="0"/>
              <a:t>B</a:t>
            </a:r>
            <a:r>
              <a:rPr sz="900" dirty="0"/>
              <a:t>阶段结尾</a:t>
            </a:r>
            <a:r>
              <a:rPr sz="900" dirty="0"/>
              <a:t>的旧版</a:t>
            </a:r>
            <a:r>
              <a:rPr lang="en-US" altLang="zh-CN" sz="900" dirty="0"/>
              <a:t>NPC2. </a:t>
            </a:r>
            <a:r>
              <a:rPr sz="900" dirty="0"/>
              <a:t>新版加入了</a:t>
            </a:r>
            <a:r>
              <a:rPr lang="en-US" altLang="zh-CN" sz="900" dirty="0"/>
              <a:t>pipeline</a:t>
            </a:r>
            <a:r>
              <a:rPr sz="900" dirty="0"/>
              <a:t>和全新的</a:t>
            </a:r>
            <a:r>
              <a:rPr lang="en-US" altLang="zh-CN" sz="900" dirty="0"/>
              <a:t>IFU</a:t>
            </a:r>
            <a:r>
              <a:rPr sz="900" dirty="0"/>
              <a:t>总线机制</a:t>
            </a:r>
            <a:r>
              <a:rPr lang="en-US" altLang="zh-CN" sz="900" dirty="0"/>
              <a:t>.</a:t>
            </a:r>
            <a:endParaRPr lang="en-US" altLang="zh-CN" sz="900" dirty="0"/>
          </a:p>
        </p:txBody>
      </p:sp>
      <p:cxnSp>
        <p:nvCxnSpPr>
          <p:cNvPr id="3145768" name="powerpoint template design by DAJU_PPT正版来源小红书大橘PPT微信DAJU_PPT请勿抄袭搬运！盗版必究！"/>
          <p:cNvCxnSpPr/>
          <p:nvPr/>
        </p:nvCxnSpPr>
        <p:spPr>
          <a:xfrm>
            <a:off x="191695" y="1000625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671100" y="2712914"/>
            <a:ext cx="1652905" cy="2286439"/>
            <a:chOff x="942340" y="2646239"/>
            <a:chExt cx="2385060" cy="2286439"/>
          </a:xfrm>
        </p:grpSpPr>
        <p:sp>
          <p:nvSpPr>
            <p:cNvPr id="2" name="矩形 1"/>
            <p:cNvSpPr/>
            <p:nvPr/>
          </p:nvSpPr>
          <p:spPr>
            <a:xfrm>
              <a:off x="942340" y="2646239"/>
              <a:ext cx="2385060" cy="22864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dirty="0" err="1">
                  <a:solidFill>
                    <a:sysClr val="windowText" lastClr="000000"/>
                  </a:solidFill>
                  <a:latin typeface="Cascadia Mono" panose="020B0609020000020004" pitchFamily="1" charset="0"/>
                  <a:ea typeface="+mj-ea"/>
                  <a:cs typeface="Cascadia Mono" panose="020B0609020000020004" pitchFamily="1" charset="0"/>
                </a:rPr>
                <a:t>IFU</a:t>
              </a:r>
              <a:endParaRPr lang="zh-CN" altLang="en-US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46820" y="3035935"/>
              <a:ext cx="1986900" cy="403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dirty="0" err="1">
                  <a:solidFill>
                    <a:sysClr val="windowText" lastClr="000000"/>
                  </a:solidFill>
                  <a:latin typeface="Cascadia Mono" panose="020B0609020000020004" pitchFamily="1" charset="0"/>
                  <a:ea typeface="+mj-ea"/>
                  <a:cs typeface="Cascadia Mono" panose="020B0609020000020004" pitchFamily="1" charset="0"/>
                </a:rPr>
                <a:t>PC</a:t>
              </a:r>
              <a:endParaRPr lang="zh-CN" altLang="en-US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3040380" y="2028825"/>
            <a:ext cx="868045" cy="3256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IDU</a:t>
            </a:r>
            <a:endParaRPr lang="zh-CN" altLang="en-US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6085" y="5469255"/>
            <a:ext cx="1763395" cy="1127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 err="1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R</a:t>
            </a:r>
            <a:r>
              <a:rPr lang="en-US" altLang="zh-CN" sz="1400" dirty="0" err="1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egFile</a:t>
            </a:r>
            <a:endParaRPr lang="en-US" altLang="zh-CN" sz="1400" dirty="0" err="1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679440" y="5481955"/>
            <a:ext cx="1224280" cy="993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PMEM</a:t>
            </a:r>
            <a:endParaRPr lang="zh-CN" altLang="en-US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1195" y="5796915"/>
            <a:ext cx="1259205" cy="307975"/>
          </a:xfrm>
          <a:prstGeom prst="rect">
            <a:avLst/>
          </a:prstGeom>
          <a:noFill/>
          <a:ln>
            <a:solidFill>
              <a:srgbClr val="538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 err="1">
                <a:solidFill>
                  <a:srgbClr val="538B4B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GPRF</a:t>
            </a:r>
            <a:r>
              <a:rPr lang="en-US" altLang="zh-CN" sz="1400" dirty="0" err="1">
                <a:solidFill>
                  <a:srgbClr val="538B4B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ile</a:t>
            </a:r>
            <a:endParaRPr lang="en-US" altLang="zh-CN" sz="1400" dirty="0" err="1">
              <a:solidFill>
                <a:srgbClr val="538B4B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14390" y="5796915"/>
            <a:ext cx="713105" cy="359410"/>
          </a:xfrm>
          <a:prstGeom prst="rect">
            <a:avLst/>
          </a:prstGeom>
          <a:noFill/>
          <a:ln>
            <a:solidFill>
              <a:srgbClr val="538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000" dirty="0" err="1">
                <a:solidFill>
                  <a:srgbClr val="538B4B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DPIC funcs</a:t>
            </a:r>
            <a:endParaRPr lang="zh-CN" altLang="en-US" sz="1000" dirty="0">
              <a:solidFill>
                <a:srgbClr val="538B4B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62905" y="2129790"/>
            <a:ext cx="87185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jump_en&amp;addr</a:t>
            </a:r>
            <a:endParaRPr lang="en-US" altLang="zh-CN" sz="800" dirty="0"/>
          </a:p>
        </p:txBody>
      </p:sp>
      <p:cxnSp>
        <p:nvCxnSpPr>
          <p:cNvPr id="51" name="直接连接符 50"/>
          <p:cNvCxnSpPr/>
          <p:nvPr/>
        </p:nvCxnSpPr>
        <p:spPr>
          <a:xfrm>
            <a:off x="6133645" y="4825779"/>
            <a:ext cx="0" cy="65807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57" name="直接连接符 2097156"/>
          <p:cNvCxnSpPr/>
          <p:nvPr/>
        </p:nvCxnSpPr>
        <p:spPr>
          <a:xfrm flipV="1">
            <a:off x="6368193" y="1944755"/>
            <a:ext cx="0" cy="42236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61" name="直接连接符 2097160"/>
          <p:cNvCxnSpPr/>
          <p:nvPr/>
        </p:nvCxnSpPr>
        <p:spPr>
          <a:xfrm flipH="1">
            <a:off x="2037492" y="1945243"/>
            <a:ext cx="4330700" cy="133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64" name="直接连接符 2097163"/>
          <p:cNvCxnSpPr/>
          <p:nvPr/>
        </p:nvCxnSpPr>
        <p:spPr>
          <a:xfrm flipH="1">
            <a:off x="2063392" y="1958179"/>
            <a:ext cx="6350" cy="73660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73" name="直接连接符 2097172"/>
          <p:cNvCxnSpPr/>
          <p:nvPr/>
        </p:nvCxnSpPr>
        <p:spPr>
          <a:xfrm>
            <a:off x="7780635" y="4291136"/>
            <a:ext cx="20955" cy="226822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77" name="直接连接符 2097176"/>
          <p:cNvCxnSpPr/>
          <p:nvPr/>
        </p:nvCxnSpPr>
        <p:spPr>
          <a:xfrm flipH="1" flipV="1">
            <a:off x="4008585" y="4486910"/>
            <a:ext cx="1905" cy="18097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80" name="直接连接符 2097179"/>
          <p:cNvCxnSpPr/>
          <p:nvPr/>
        </p:nvCxnSpPr>
        <p:spPr>
          <a:xfrm flipH="1">
            <a:off x="3244543" y="6571343"/>
            <a:ext cx="4533900" cy="152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184" name="直接连接符 2097183"/>
          <p:cNvCxnSpPr/>
          <p:nvPr/>
        </p:nvCxnSpPr>
        <p:spPr>
          <a:xfrm flipV="1">
            <a:off x="5462901" y="2364607"/>
            <a:ext cx="905510" cy="25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7203" name="直接连接符 2097202"/>
          <p:cNvCxnSpPr/>
          <p:nvPr/>
        </p:nvCxnSpPr>
        <p:spPr>
          <a:xfrm>
            <a:off x="2323928" y="4186402"/>
            <a:ext cx="716280" cy="698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97206" name="文本框 2097205"/>
          <p:cNvSpPr txBox="1"/>
          <p:nvPr/>
        </p:nvSpPr>
        <p:spPr>
          <a:xfrm>
            <a:off x="2325370" y="3956050"/>
            <a:ext cx="715010" cy="194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dirty="0"/>
              <a:t>IF2ID</a:t>
            </a:r>
            <a:endParaRPr lang="zh-CN" altLang="en-US" sz="1000" dirty="0"/>
          </a:p>
        </p:txBody>
      </p:sp>
      <p:sp>
        <p:nvSpPr>
          <p:cNvPr id="3145771" name="文本框 3145770"/>
          <p:cNvSpPr txBox="1"/>
          <p:nvPr/>
        </p:nvSpPr>
        <p:spPr>
          <a:xfrm>
            <a:off x="2157095" y="5368290"/>
            <a:ext cx="10960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rs1_addr&amp;data</a:t>
            </a:r>
            <a:endParaRPr lang="en-US" altLang="zh-CN" sz="800" dirty="0" err="1"/>
          </a:p>
        </p:txBody>
      </p:sp>
      <p:cxnSp>
        <p:nvCxnSpPr>
          <p:cNvPr id="3145772" name="直接连接符 3145771"/>
          <p:cNvCxnSpPr/>
          <p:nvPr/>
        </p:nvCxnSpPr>
        <p:spPr>
          <a:xfrm flipV="1">
            <a:off x="2189710" y="5593124"/>
            <a:ext cx="891540" cy="508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71195" y="6200140"/>
            <a:ext cx="1259205" cy="307975"/>
          </a:xfrm>
          <a:prstGeom prst="rect">
            <a:avLst/>
          </a:prstGeom>
          <a:noFill/>
          <a:ln>
            <a:solidFill>
              <a:srgbClr val="538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 err="1">
                <a:solidFill>
                  <a:srgbClr val="538B4B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CSRF</a:t>
            </a:r>
            <a:r>
              <a:rPr lang="en-US" altLang="zh-CN" sz="1400" dirty="0" err="1">
                <a:solidFill>
                  <a:srgbClr val="538B4B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ile</a:t>
            </a:r>
            <a:endParaRPr lang="en-US" altLang="zh-CN" sz="1400" dirty="0" err="1">
              <a:solidFill>
                <a:srgbClr val="538B4B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 flipV="1">
            <a:off x="2157325" y="5687739"/>
            <a:ext cx="923925" cy="6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189480" y="5746115"/>
            <a:ext cx="9239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rs2_addr&amp;data</a:t>
            </a:r>
            <a:endParaRPr lang="en-US" altLang="zh-CN" sz="800" dirty="0" err="1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2199870" y="5960154"/>
            <a:ext cx="891540" cy="508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 flipV="1">
            <a:off x="2167485" y="6054769"/>
            <a:ext cx="923925" cy="6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189480" y="6261100"/>
            <a:ext cx="10960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rd_addr&amp;data&amp;wen</a:t>
            </a:r>
            <a:endParaRPr lang="en-US" altLang="zh-CN" sz="800" dirty="0" err="1"/>
          </a:p>
        </p:txBody>
      </p:sp>
      <p:cxnSp>
        <p:nvCxnSpPr>
          <p:cNvPr id="37" name="直接连接符 36"/>
          <p:cNvCxnSpPr/>
          <p:nvPr/>
        </p:nvCxnSpPr>
        <p:spPr>
          <a:xfrm flipH="1" flipV="1">
            <a:off x="2189710" y="6580549"/>
            <a:ext cx="923925" cy="6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 flipV="1">
            <a:off x="2189710" y="6508794"/>
            <a:ext cx="923925" cy="6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 flipV="1">
            <a:off x="2189710" y="6452279"/>
            <a:ext cx="923925" cy="6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4594860" y="2073275"/>
            <a:ext cx="868045" cy="3256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EXU</a:t>
            </a:r>
            <a:endParaRPr lang="zh-CN" altLang="en-US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908253" y="4281652"/>
            <a:ext cx="279400" cy="952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823970" y="4027805"/>
            <a:ext cx="495935" cy="139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800" dirty="0"/>
              <a:t>ID2EX</a:t>
            </a:r>
            <a:endParaRPr lang="en-US" altLang="zh-CN" sz="800" dirty="0"/>
          </a:p>
        </p:txBody>
      </p:sp>
      <p:sp>
        <p:nvSpPr>
          <p:cNvPr id="46" name="矩形 45"/>
          <p:cNvSpPr/>
          <p:nvPr/>
        </p:nvSpPr>
        <p:spPr>
          <a:xfrm>
            <a:off x="5886450" y="3369310"/>
            <a:ext cx="741045" cy="14566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LSU</a:t>
            </a:r>
            <a:endParaRPr lang="zh-CN" altLang="en-US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5462733" y="3849217"/>
            <a:ext cx="423545" cy="190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5363845" y="3611880"/>
            <a:ext cx="633730" cy="151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dirty="0"/>
              <a:t>EX2LS</a:t>
            </a:r>
            <a:endParaRPr lang="zh-CN" altLang="en-US" sz="1000" dirty="0"/>
          </a:p>
        </p:txBody>
      </p:sp>
      <p:cxnSp>
        <p:nvCxnSpPr>
          <p:cNvPr id="52" name="直接连接符 51"/>
          <p:cNvCxnSpPr/>
          <p:nvPr/>
        </p:nvCxnSpPr>
        <p:spPr>
          <a:xfrm flipV="1">
            <a:off x="6196510" y="4799744"/>
            <a:ext cx="4445" cy="68389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4007950" y="4486910"/>
            <a:ext cx="209550" cy="25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3848100" y="4627245"/>
            <a:ext cx="323215" cy="132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800" dirty="0"/>
              <a:t>0</a:t>
            </a:r>
            <a:endParaRPr lang="en-US" altLang="zh-CN" sz="800" dirty="0"/>
          </a:p>
        </p:txBody>
      </p:sp>
      <p:cxnSp>
        <p:nvCxnSpPr>
          <p:cNvPr id="57" name="直接连接符 56"/>
          <p:cNvCxnSpPr>
            <a:endCxn id="60" idx="3"/>
          </p:cNvCxnSpPr>
          <p:nvPr/>
        </p:nvCxnSpPr>
        <p:spPr>
          <a:xfrm flipH="1">
            <a:off x="4278272" y="1958179"/>
            <a:ext cx="14605" cy="228409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流程图: 手动操作 59"/>
          <p:cNvSpPr/>
          <p:nvPr/>
        </p:nvSpPr>
        <p:spPr>
          <a:xfrm rot="16200000">
            <a:off x="4099560" y="4324350"/>
            <a:ext cx="356235" cy="120650"/>
          </a:xfrm>
          <a:prstGeom prst="flowChartManualOperation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en-US" altLang="zh-CN"/>
          </a:p>
        </p:txBody>
      </p:sp>
      <p:cxnSp>
        <p:nvCxnSpPr>
          <p:cNvPr id="61" name="直接连接符 60"/>
          <p:cNvCxnSpPr/>
          <p:nvPr/>
        </p:nvCxnSpPr>
        <p:spPr>
          <a:xfrm>
            <a:off x="4344500" y="4368165"/>
            <a:ext cx="249555" cy="25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6626053" y="3887317"/>
            <a:ext cx="716280" cy="698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6627495" y="3656965"/>
            <a:ext cx="715010" cy="194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dirty="0"/>
              <a:t>LS2WB</a:t>
            </a:r>
            <a:endParaRPr lang="zh-CN" altLang="en-US" sz="1000" dirty="0"/>
          </a:p>
        </p:txBody>
      </p:sp>
      <p:sp>
        <p:nvSpPr>
          <p:cNvPr id="67" name="矩形 66"/>
          <p:cNvSpPr/>
          <p:nvPr/>
        </p:nvSpPr>
        <p:spPr>
          <a:xfrm>
            <a:off x="7342505" y="3542665"/>
            <a:ext cx="900430" cy="748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WBU</a:t>
            </a:r>
            <a:endParaRPr lang="en-US" altLang="zh-CN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(dummy)</a:t>
            </a:r>
            <a:endParaRPr lang="en-US" altLang="zh-CN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730750" y="2587625"/>
            <a:ext cx="595630" cy="3448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ALU</a:t>
            </a:r>
            <a:endParaRPr lang="zh-CN" altLang="en-US" sz="14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730750" y="3161030"/>
            <a:ext cx="595630" cy="3448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CSRALU</a:t>
            </a:r>
            <a:endParaRPr lang="zh-CN" altLang="en-US" sz="9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997575" y="3763010"/>
            <a:ext cx="595630" cy="3448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Cascadia Mono" panose="020B0609020000020004" pitchFamily="1" charset="0"/>
                <a:ea typeface="+mj-ea"/>
                <a:cs typeface="Cascadia Mono" panose="020B0609020000020004" pitchFamily="1" charset="0"/>
              </a:rPr>
              <a:t>MemOp</a:t>
            </a:r>
            <a:endParaRPr lang="en-US" altLang="zh-CN" sz="1000" dirty="0">
              <a:solidFill>
                <a:sysClr val="windowText" lastClr="000000"/>
              </a:solidFill>
              <a:latin typeface="Cascadia Mono" panose="020B0609020000020004" pitchFamily="1" charset="0"/>
              <a:ea typeface="+mj-ea"/>
              <a:cs typeface="Cascadia Mono" panose="020B0609020000020004" pitchFamily="1" charset="0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70" y="1839595"/>
            <a:ext cx="5332730" cy="1529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01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104130" y="3993515"/>
            <a:ext cx="6682740" cy="523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npc2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的架构介绍</a:t>
            </a: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</a:t>
            </a: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sz="32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"/>
    </mc:Choice>
    <mc:Fallback>
      <p:transition spd="slow" advTm="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23950" y="550545"/>
            <a:ext cx="6225540" cy="3746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ts val="12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npc2</a:t>
            </a:r>
            <a:r>
              <a:rPr lang="zh-CN" altLang="en-US" sz="24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架构展示</a:t>
            </a:r>
            <a:r>
              <a:rPr lang="en-US" altLang="zh-CN" sz="24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4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r>
              <a:rPr lang="en-US" altLang="zh-CN" sz="24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4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00" y="1196975"/>
            <a:ext cx="2724150" cy="52197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16250" y="9251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本层一开始脱胎于刚搭好的</a:t>
            </a:r>
            <a:r>
              <a:rPr lang="en-US" altLang="zh-CN"/>
              <a:t>minirv</a:t>
            </a:r>
            <a:r>
              <a:rPr lang="zh-CN" altLang="en-US"/>
              <a:t>的测试</a:t>
            </a:r>
            <a:r>
              <a:rPr lang="en-US" altLang="zh-CN"/>
              <a:t>(</a:t>
            </a:r>
            <a:r>
              <a:rPr lang="zh-CN" altLang="en-US"/>
              <a:t>使用</a:t>
            </a:r>
            <a:r>
              <a:rPr lang="en-US" altLang="zh-CN"/>
              <a:t>bash</a:t>
            </a:r>
            <a:r>
              <a:rPr lang="zh-CN" altLang="en-US"/>
              <a:t>测试脚本</a:t>
            </a:r>
            <a:r>
              <a:rPr lang="en-US" altLang="zh-CN"/>
              <a:t>). </a:t>
            </a:r>
            <a:r>
              <a:rPr lang="zh-CN" altLang="en-US"/>
              <a:t>后来要接入</a:t>
            </a:r>
            <a:r>
              <a:rPr lang="en-US" altLang="zh-CN"/>
              <a:t>am</a:t>
            </a:r>
            <a:r>
              <a:rPr lang="zh-CN" altLang="en-US"/>
              <a:t>一起编译得到仿真器</a:t>
            </a:r>
            <a:r>
              <a:rPr lang="en-US" altLang="zh-CN"/>
              <a:t>, </a:t>
            </a:r>
            <a:r>
              <a:rPr lang="zh-CN" altLang="en-US"/>
              <a:t>故改用</a:t>
            </a:r>
            <a:r>
              <a:rPr lang="en-US" altLang="zh-CN"/>
              <a:t>makefile...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206750" y="5867400"/>
            <a:ext cx="3873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经过优化的清爽</a:t>
            </a:r>
            <a:r>
              <a:rPr lang="en-US" altLang="zh-CN"/>
              <a:t>main</a:t>
            </a:r>
            <a:r>
              <a:rPr lang="zh-CN" altLang="en-US"/>
              <a:t>仿真框架</a:t>
            </a:r>
            <a:r>
              <a:rPr lang="en-US" altLang="zh-CN"/>
              <a:t>. (</a:t>
            </a:r>
            <a:r>
              <a:rPr lang="zh-CN" altLang="en-US"/>
              <a:t>为了敏捷开发加上我不喜欢</a:t>
            </a:r>
            <a:r>
              <a:rPr lang="en-US" altLang="zh-CN"/>
              <a:t>GUI, </a:t>
            </a:r>
            <a:r>
              <a:rPr lang="zh-CN" altLang="en-US"/>
              <a:t>没有使用</a:t>
            </a:r>
            <a:r>
              <a:rPr lang="en-US" altLang="zh-CN"/>
              <a:t>manuconfig...)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5" y="1847215"/>
            <a:ext cx="2974340" cy="387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47"/>
    </mc:Choice>
    <mc:Fallback>
      <p:transition spd="slow" advTm="44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7437119" y="947994"/>
            <a:ext cx="273164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02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104130" y="3993515"/>
            <a:ext cx="6682740" cy="523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nemu&amp;am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端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</a:t>
            </a:r>
            <a:endParaRPr lang="zh-CN" altLang="en-US" sz="3200" b="1" dirty="0"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"/>
    </mc:Choice>
    <mc:Fallback>
      <p:transition spd="slow" advTm="6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en-US" altLang="zh-CN" sz="2400" b="1">
                <a:sym typeface="+mn-ea"/>
              </a:rPr>
              <a:t>4</a:t>
            </a:r>
            <a:r>
              <a:rPr lang="zh-CN" altLang="en-US" sz="2400" b="1">
                <a:sym typeface="+mn-ea"/>
              </a:rPr>
              <a:t>个</a:t>
            </a:r>
            <a:r>
              <a:rPr lang="en-US" altLang="zh-CN" sz="2400" b="1">
                <a:sym typeface="+mn-ea"/>
              </a:rPr>
              <a:t>trace: </a:t>
            </a:r>
            <a:r>
              <a:rPr lang="zh-CN" altLang="en-US" sz="2400" b="1">
                <a:sym typeface="+mn-ea"/>
              </a:rPr>
              <a:t>实验中认为</a:t>
            </a:r>
            <a:r>
              <a:rPr lang="zh-CN" altLang="en-US" sz="2400" b="1">
                <a:sym typeface="+mn-ea"/>
              </a:rPr>
              <a:t>比较优美的方式</a:t>
            </a:r>
            <a:r>
              <a:rPr lang="en-US" altLang="zh-CN" sz="2400" b="1">
                <a:sym typeface="+mn-ea"/>
              </a:rPr>
              <a:t>: </a:t>
            </a:r>
            <a:r>
              <a:rPr lang="zh-CN" altLang="en-US" sz="2400" b="1">
                <a:sym typeface="+mn-ea"/>
              </a:rPr>
              <a:t>占位</a:t>
            </a:r>
            <a:r>
              <a:rPr lang="zh-CN" altLang="en-US" sz="2400" b="1">
                <a:sym typeface="+mn-ea"/>
              </a:rPr>
              <a:t>实现</a:t>
            </a:r>
            <a:endParaRPr lang="zh-CN" altLang="en-US" sz="2400" b="1">
              <a:sym typeface="+mn-ea"/>
            </a:endParaRP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8" name="powerpoint template design by DAJU_PPT正版来源小红书大橘PPT微信DAJU_PPT请勿抄袭搬运！盗版必究！"/>
          <p:cNvCxnSpPr/>
          <p:nvPr/>
        </p:nvCxnSpPr>
        <p:spPr>
          <a:xfrm>
            <a:off x="191695" y="1000625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5915" y="1117600"/>
            <a:ext cx="2368550" cy="351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itrace: exec_once()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622425"/>
            <a:ext cx="3133090" cy="34505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61180" y="806450"/>
            <a:ext cx="2746375" cy="913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mtrace: 	paddr_read(), 	paddr_</a:t>
            </a:r>
            <a:r>
              <a:rPr lang="en-US" altLang="zh-CN"/>
              <a:t>write()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060" y="1622425"/>
            <a:ext cx="2887980" cy="2479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975" y="1622425"/>
            <a:ext cx="2837180" cy="2419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675" y="4354195"/>
            <a:ext cx="4382135" cy="22637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61325" y="888365"/>
            <a:ext cx="314960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ftrace: INSTPAT</a:t>
            </a:r>
            <a:r>
              <a:rPr lang="zh-CN" altLang="en-US"/>
              <a:t>对</a:t>
            </a:r>
            <a:r>
              <a:rPr lang="en-US" altLang="zh-CN"/>
              <a:t>j</a:t>
            </a:r>
            <a:r>
              <a:rPr lang="zh-CN" altLang="en-US"/>
              <a:t>指令插桩</a:t>
            </a:r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8351520" y="5497830"/>
            <a:ext cx="3770630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dtrace: map_read(), map_write()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7437119" y="947994"/>
            <a:ext cx="273164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03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104130" y="3993515"/>
            <a:ext cx="6682740" cy="523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VGA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讲解</a:t>
            </a:r>
            <a:endParaRPr lang="zh-CN" altLang="en-US" sz="3200" b="1" dirty="0"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"/>
    </mc:Choice>
    <mc:Fallback>
      <p:transition spd="slow" advTm="6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en-US" altLang="zh-CN" sz="2400" b="1">
                <a:sym typeface="+mn-ea"/>
              </a:rPr>
              <a:t>VGA </a:t>
            </a:r>
            <a:r>
              <a:rPr lang="zh-CN" altLang="en-US" sz="2400" b="1">
                <a:sym typeface="+mn-ea"/>
              </a:rPr>
              <a:t>程序在</a:t>
            </a:r>
            <a:r>
              <a:rPr lang="en-US" altLang="zh-CN" sz="2400" b="1">
                <a:sym typeface="+mn-ea"/>
              </a:rPr>
              <a:t> NEMU </a:t>
            </a:r>
            <a:r>
              <a:rPr lang="zh-CN" altLang="en-US" sz="2400" b="1">
                <a:sym typeface="+mn-ea"/>
              </a:rPr>
              <a:t>上的运行</a:t>
            </a:r>
            <a:endParaRPr lang="zh-CN" altLang="en-US" sz="2400" b="1">
              <a:sym typeface="+mn-ea"/>
            </a:endParaRP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55600" y="961390"/>
            <a:ext cx="568769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1. </a:t>
            </a:r>
            <a:r>
              <a:rPr lang="zh-CN" altLang="en-US" sz="1000"/>
              <a:t>客户程序层</a:t>
            </a:r>
            <a:r>
              <a:rPr lang="en-US" altLang="zh-CN" sz="1000"/>
              <a:t> (Guest Application)</a:t>
            </a:r>
            <a:endParaRPr lang="en-US" altLang="zh-CN" sz="1000"/>
          </a:p>
          <a:p>
            <a:pPr indent="457200"/>
            <a:r>
              <a:rPr lang="zh-CN" altLang="en-US" sz="1000"/>
              <a:t>程序调用：</a:t>
            </a:r>
            <a:r>
              <a:rPr lang="en-US" altLang="zh-CN" sz="1000"/>
              <a:t>io_write(AM_GPU_FBDRAW, x, y, pixels, w, h, sync).</a:t>
            </a:r>
            <a:endParaRPr lang="en-US" altLang="zh-CN" sz="1000"/>
          </a:p>
          <a:p>
            <a:pPr indent="457200"/>
            <a:r>
              <a:rPr lang="en-US" altLang="zh-CN" sz="1000"/>
              <a:t>io_write</a:t>
            </a:r>
            <a:r>
              <a:rPr lang="zh-CN" altLang="en-US" sz="1000"/>
              <a:t>是</a:t>
            </a:r>
            <a:r>
              <a:rPr lang="en-US" altLang="zh-CN" sz="1000"/>
              <a:t>klib</a:t>
            </a:r>
            <a:r>
              <a:rPr lang="zh-CN" altLang="en-US" sz="1000"/>
              <a:t>宏</a:t>
            </a:r>
            <a:r>
              <a:rPr lang="en-US" altLang="zh-CN" sz="1000"/>
              <a:t>. Klib </a:t>
            </a:r>
            <a:r>
              <a:rPr lang="zh-CN" altLang="en-US" sz="1000"/>
              <a:t>宏展开会将其打包转换为</a:t>
            </a:r>
            <a:r>
              <a:rPr lang="en-US" altLang="zh-CN" sz="1000"/>
              <a:t> ioe_write(AM_GPU_FBDRAW, </a:t>
            </a:r>
            <a:r>
              <a:rPr lang="zh-CN" altLang="en-US" sz="1000"/>
              <a:t>等同于</a:t>
            </a:r>
            <a:r>
              <a:rPr lang="en-US" altLang="zh-CN" sz="1000"/>
              <a:t>AM_GPU_FBDRAW_T</a:t>
            </a:r>
            <a:r>
              <a:rPr lang="zh-CN" altLang="en-US" sz="1000"/>
              <a:t>结构体的内存地址</a:t>
            </a:r>
            <a:r>
              <a:rPr lang="en-US" altLang="zh-CN" sz="1000"/>
              <a:t>) </a:t>
            </a:r>
            <a:r>
              <a:rPr lang="zh-CN" altLang="en-US" sz="1000"/>
              <a:t>。在</a:t>
            </a:r>
            <a:r>
              <a:rPr lang="en-US" altLang="zh-CN" sz="1000"/>
              <a:t> ioe.c </a:t>
            </a:r>
            <a:r>
              <a:rPr lang="zh-CN" altLang="en-US" sz="1000"/>
              <a:t>文件中执行</a:t>
            </a:r>
            <a:r>
              <a:rPr lang="en-US" altLang="zh-CN" sz="1000"/>
              <a:t> ((handler_t)lut[reg])(buf); </a:t>
            </a:r>
            <a:r>
              <a:rPr lang="zh-CN" altLang="en-US" sz="1000"/>
              <a:t>因为传入的</a:t>
            </a:r>
            <a:r>
              <a:rPr lang="en-US" altLang="zh-CN" sz="1000"/>
              <a:t> reg </a:t>
            </a:r>
            <a:r>
              <a:rPr lang="zh-CN" altLang="en-US" sz="1000"/>
              <a:t>是宏常量</a:t>
            </a:r>
            <a:r>
              <a:rPr lang="en-US" altLang="zh-CN" sz="1000"/>
              <a:t> AM_GPU_FBDRAW</a:t>
            </a:r>
            <a:r>
              <a:rPr lang="zh-CN" altLang="en-US" sz="1000"/>
              <a:t>，于是查表</a:t>
            </a:r>
            <a:r>
              <a:rPr lang="en-US" altLang="zh-CN" sz="1000"/>
              <a:t> lut</a:t>
            </a:r>
            <a:r>
              <a:rPr lang="zh-CN" altLang="en-US" sz="1000"/>
              <a:t>。</a:t>
            </a:r>
            <a:r>
              <a:rPr lang="en-US" altLang="zh-CN" sz="1000"/>
              <a:t>lut[AM_GPU_FBDRAW] </a:t>
            </a:r>
            <a:r>
              <a:rPr lang="zh-CN" altLang="en-US" sz="1000"/>
              <a:t>对应的函数就是</a:t>
            </a:r>
            <a:r>
              <a:rPr lang="en-US" altLang="zh-CN" sz="1000"/>
              <a:t> __am_gpu_fbdraw</a:t>
            </a:r>
            <a:r>
              <a:rPr lang="zh-CN" altLang="en-US" sz="1000"/>
              <a:t>。</a:t>
            </a:r>
            <a:endParaRPr lang="zh-CN" altLang="en-US" sz="1000"/>
          </a:p>
          <a:p>
            <a:pPr indent="457200"/>
            <a:r>
              <a:rPr lang="zh-CN" altLang="en-US" sz="1000"/>
              <a:t>这时候，原本远在</a:t>
            </a:r>
            <a:r>
              <a:rPr lang="en-US" altLang="zh-CN" sz="1000"/>
              <a:t> gpu.c </a:t>
            </a:r>
            <a:r>
              <a:rPr lang="zh-CN" altLang="en-US" sz="1000"/>
              <a:t>里面的</a:t>
            </a:r>
            <a:r>
              <a:rPr lang="en-US" altLang="zh-CN" sz="1000"/>
              <a:t> </a:t>
            </a:r>
            <a:r>
              <a:rPr lang="en-US" altLang="zh-CN" sz="1000" b="1"/>
              <a:t>__am_gpu_fbdraw</a:t>
            </a:r>
            <a:r>
              <a:rPr lang="en-US" altLang="zh-CN" sz="1000"/>
              <a:t> </a:t>
            </a:r>
            <a:r>
              <a:rPr lang="zh-CN" altLang="en-US" sz="1000"/>
              <a:t>函数就被正式调用了，同时传入了它需要的包含图像信息结构的</a:t>
            </a:r>
            <a:r>
              <a:rPr lang="en-US" altLang="zh-CN" sz="1000"/>
              <a:t> buf </a:t>
            </a:r>
            <a:r>
              <a:rPr lang="zh-CN" altLang="en-US" sz="1000"/>
              <a:t>入参</a:t>
            </a:r>
            <a:r>
              <a:rPr lang="en-US" altLang="zh-CN" sz="1000"/>
              <a:t>.</a:t>
            </a:r>
            <a:endParaRPr lang="zh-CN" altLang="en-US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2. </a:t>
            </a:r>
            <a:r>
              <a:rPr lang="zh-CN" altLang="en-US" sz="1000"/>
              <a:t>抽象机器层</a:t>
            </a:r>
            <a:r>
              <a:rPr lang="en-US" altLang="zh-CN" sz="1000"/>
              <a:t> (Abstract Machine IOE)</a:t>
            </a:r>
            <a:endParaRPr lang="en-US" altLang="zh-CN" sz="1000"/>
          </a:p>
          <a:p>
            <a:pPr indent="457200"/>
            <a:r>
              <a:rPr lang="en-US" altLang="zh-CN" sz="1000"/>
              <a:t>AM </a:t>
            </a:r>
            <a:r>
              <a:rPr lang="zh-CN" altLang="en-US" sz="1000"/>
              <a:t>显卡驱动层将二维逻辑像素坐标转换为一维内存偏移。将数据逐行拷贝至约定的物理显存基址</a:t>
            </a:r>
            <a:r>
              <a:rPr lang="en-US" altLang="zh-CN" sz="1000"/>
              <a:t> (FB_ADDR = 0xa1000000)</a:t>
            </a:r>
            <a:r>
              <a:rPr lang="zh-CN" altLang="en-US" sz="1000"/>
              <a:t>。若启用按帧刷新，向同步控制寄存器</a:t>
            </a:r>
            <a:r>
              <a:rPr lang="en-US" altLang="zh-CN" sz="1000"/>
              <a:t> (SYNC_ADDR = 0xa0000104) </a:t>
            </a:r>
            <a:r>
              <a:rPr lang="zh-CN" altLang="en-US" sz="1000"/>
              <a:t>写入有效指令触发底层硬件更新。</a:t>
            </a:r>
            <a:endParaRPr lang="zh-CN" altLang="en-US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3. NEMU </a:t>
            </a:r>
            <a:r>
              <a:rPr lang="zh-CN" altLang="en-US" sz="1000"/>
              <a:t>硬件模拟层</a:t>
            </a:r>
            <a:r>
              <a:rPr lang="en-US" altLang="zh-CN" sz="1000"/>
              <a:t> (NEMU MMIO)</a:t>
            </a:r>
            <a:endParaRPr lang="en-US" altLang="zh-CN" sz="1000"/>
          </a:p>
          <a:p>
            <a:pPr indent="457200"/>
            <a:r>
              <a:rPr lang="en-US" altLang="zh-CN" sz="1000"/>
              <a:t>VGA </a:t>
            </a:r>
            <a:r>
              <a:rPr lang="zh-CN" altLang="en-US" sz="1000"/>
              <a:t>设备初始化阶段，硬件模拟器通过</a:t>
            </a:r>
            <a:r>
              <a:rPr lang="en-US" altLang="zh-CN" sz="1000"/>
              <a:t> add_mmio_map </a:t>
            </a:r>
            <a:r>
              <a:rPr lang="zh-CN" altLang="en-US" sz="1000"/>
              <a:t>注册并拦截对</a:t>
            </a:r>
            <a:r>
              <a:rPr lang="en-US" altLang="zh-CN" sz="1000"/>
              <a:t> 0xa1000000 (</a:t>
            </a:r>
            <a:r>
              <a:rPr lang="zh-CN" altLang="en-US" sz="1000"/>
              <a:t>显存</a:t>
            </a:r>
            <a:r>
              <a:rPr lang="en-US" altLang="zh-CN" sz="1000"/>
              <a:t>) </a:t>
            </a:r>
            <a:r>
              <a:rPr lang="zh-CN" altLang="en-US" sz="1000"/>
              <a:t>及</a:t>
            </a:r>
            <a:r>
              <a:rPr lang="en-US" altLang="zh-CN" sz="1000"/>
              <a:t> 0xa0000100 (</a:t>
            </a:r>
            <a:r>
              <a:rPr lang="zh-CN" altLang="en-US" sz="1000"/>
              <a:t>配置台</a:t>
            </a:r>
            <a:r>
              <a:rPr lang="en-US" altLang="zh-CN" sz="1000"/>
              <a:t>) </a:t>
            </a:r>
            <a:r>
              <a:rPr lang="zh-CN" altLang="en-US" sz="1000"/>
              <a:t>的所有访存请求。</a:t>
            </a:r>
            <a:endParaRPr lang="zh-CN" altLang="en-US" sz="1000"/>
          </a:p>
          <a:p>
            <a:r>
              <a:rPr lang="en-US" altLang="zh-CN" sz="1000"/>
              <a:t>CPU </a:t>
            </a:r>
            <a:r>
              <a:rPr lang="zh-CN" altLang="en-US" sz="1000"/>
              <a:t>主循环外设探测函数</a:t>
            </a:r>
            <a:r>
              <a:rPr lang="en-US" altLang="zh-CN" sz="1000"/>
              <a:t> device_update() </a:t>
            </a:r>
            <a:r>
              <a:rPr lang="zh-CN" altLang="en-US" sz="1000"/>
              <a:t>定期（约</a:t>
            </a:r>
            <a:r>
              <a:rPr lang="en-US" altLang="zh-CN" sz="1000"/>
              <a:t> 60Hz</a:t>
            </a:r>
            <a:r>
              <a:rPr lang="zh-CN" altLang="en-US" sz="1000"/>
              <a:t>）轮询同步信号</a:t>
            </a:r>
            <a:r>
              <a:rPr lang="en-US" altLang="zh-CN" sz="1000"/>
              <a:t> vgactl_port_base[1]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zh-CN" altLang="en-US" sz="1000"/>
              <a:t>代码</a:t>
            </a:r>
            <a:r>
              <a:rPr lang="en-US" altLang="zh-CN" sz="1000"/>
              <a:t>: nemu/src/device/vga.c:111~117</a:t>
            </a:r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4. </a:t>
            </a:r>
            <a:r>
              <a:rPr lang="zh-CN" altLang="en-US" sz="1000"/>
              <a:t>宿主呈现层</a:t>
            </a:r>
            <a:r>
              <a:rPr lang="en-US" altLang="zh-CN" sz="1000"/>
              <a:t> (Host Render)	</a:t>
            </a:r>
            <a:endParaRPr lang="en-US" altLang="zh-CN" sz="1000"/>
          </a:p>
          <a:p>
            <a:pPr indent="457200"/>
            <a:r>
              <a:rPr lang="zh-CN" altLang="en-US" sz="1000"/>
              <a:t>当确认收到来自</a:t>
            </a:r>
            <a:r>
              <a:rPr lang="en-US" altLang="zh-CN" sz="1000"/>
              <a:t> AM </a:t>
            </a:r>
            <a:r>
              <a:rPr lang="zh-CN" altLang="en-US" sz="1000"/>
              <a:t>层的非零同步信号后，</a:t>
            </a:r>
            <a:r>
              <a:rPr lang="en-US" altLang="zh-CN" sz="1000"/>
              <a:t>NEMU </a:t>
            </a:r>
            <a:r>
              <a:rPr lang="zh-CN" altLang="en-US" sz="1000"/>
              <a:t>底层立即调用宿主机图形库原生接口（</a:t>
            </a:r>
            <a:r>
              <a:rPr lang="en-US" altLang="zh-CN" sz="1000"/>
              <a:t>SDL2</a:t>
            </a:r>
            <a:r>
              <a:rPr lang="zh-CN" altLang="en-US" sz="1000"/>
              <a:t>）。</a:t>
            </a:r>
            <a:endParaRPr lang="zh-CN" altLang="en-US" sz="1000"/>
          </a:p>
          <a:p>
            <a:r>
              <a:rPr lang="zh-CN" altLang="en-US" sz="1000"/>
              <a:t>利用</a:t>
            </a:r>
            <a:r>
              <a:rPr lang="en-US" altLang="zh-CN" sz="1000"/>
              <a:t> SDL_UpdateTexture </a:t>
            </a:r>
            <a:r>
              <a:rPr lang="zh-CN" altLang="en-US" sz="1000"/>
              <a:t>提取缓存的像素串流并交由</a:t>
            </a:r>
            <a:r>
              <a:rPr lang="en-US" altLang="zh-CN" sz="1000"/>
              <a:t> SDL_RenderPresent </a:t>
            </a:r>
            <a:r>
              <a:rPr lang="zh-CN" altLang="en-US" sz="1000"/>
              <a:t>硬件加速推流至物理显示器视窗。</a:t>
            </a:r>
            <a:endParaRPr lang="zh-CN" altLang="en-US" sz="1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130" y="719455"/>
            <a:ext cx="4784725" cy="1394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2272030"/>
            <a:ext cx="4631055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endParaRPr lang="en-US" altLang="zh-CN" sz="1400" spc="-1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607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08" name="powerpoint template design by DAJU_PPT正版来源小红书大橘PPT微信DAJU_PPT请勿抄袭搬运！盗版必究！"/>
          <p:cNvSpPr/>
          <p:nvPr/>
        </p:nvSpPr>
        <p:spPr>
          <a:xfrm>
            <a:off x="-4191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6840" y="2985135"/>
            <a:ext cx="67951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华文中宋" panose="02010600040101010101" charset="-122"/>
                <a:ea typeface="华文中宋" panose="02010600040101010101" charset="-122"/>
              </a:rPr>
              <a:t>恳请各位助教老师批评指正！</a:t>
            </a:r>
            <a:endParaRPr lang="zh-CN" altLang="en-US" sz="40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312420"/>
            <a:ext cx="2211705" cy="204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7437119" y="947994"/>
            <a:ext cx="273164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04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104130" y="3993515"/>
            <a:ext cx="6682740" cy="523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yield-os</a:t>
            </a:r>
            <a:r>
              <a:rPr lang="zh-CN" altLang="en-US" sz="32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讲解</a:t>
            </a:r>
            <a:endParaRPr lang="zh-CN" altLang="en-US" sz="3200" b="1" dirty="0"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"/>
    </mc:Choice>
    <mc:Fallback>
      <p:transition spd="slow" advTm="6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400" b="1" kern="0" dirty="0">
                <a:solidFill>
                  <a:schemeClr val="bg1"/>
                </a:solidFill>
                <a:cs typeface="+mn-ea"/>
              </a:rPr>
              <a:t>yield-os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</a:rPr>
              <a:t>目录下</a:t>
            </a:r>
            <a:r>
              <a:rPr lang="en-US" altLang="zh-CN" sz="2400" b="1" kern="0" dirty="0">
                <a:solidFill>
                  <a:schemeClr val="bg1"/>
                </a:solidFill>
                <a:cs typeface="+mn-ea"/>
              </a:rPr>
              <a:t>make, 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</a:rPr>
              <a:t>发生了什麽</a:t>
            </a:r>
            <a:r>
              <a:rPr lang="en-US" altLang="zh-CN" sz="2400" b="1" kern="0" dirty="0">
                <a:solidFill>
                  <a:schemeClr val="bg1"/>
                </a:solidFill>
                <a:cs typeface="+mn-ea"/>
              </a:rPr>
              <a:t>?</a:t>
            </a:r>
            <a:endParaRPr lang="en-US" altLang="zh-CN" sz="2400" b="1" kern="0" dirty="0">
              <a:solidFill>
                <a:schemeClr val="bg1"/>
              </a:solidFill>
              <a:cs typeface="+mn-ea"/>
            </a:endParaRP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185" y="778510"/>
            <a:ext cx="52565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首先我们在</a:t>
            </a:r>
            <a:r>
              <a:rPr lang="en-US" altLang="zh-CN" sz="1000"/>
              <a:t>am-kernels/kernels/yield-os</a:t>
            </a:r>
            <a:r>
              <a:rPr lang="zh-CN" altLang="en-US" sz="1000"/>
              <a:t>目录下执行</a:t>
            </a:r>
            <a:r>
              <a:rPr lang="en-US" altLang="zh-CN" sz="1000"/>
              <a:t>`make ARCH=riscv32-nemu run`, </a:t>
            </a:r>
            <a:r>
              <a:rPr lang="zh-CN" altLang="en-US" sz="1000"/>
              <a:t>这将</a:t>
            </a:r>
            <a:r>
              <a:rPr lang="en-US" altLang="zh-CN" sz="1000"/>
              <a:t>:</a:t>
            </a:r>
            <a:endParaRPr lang="en-US" altLang="zh-CN" sz="1000"/>
          </a:p>
        </p:txBody>
      </p:sp>
      <p:grpSp>
        <p:nvGrpSpPr>
          <p:cNvPr id="58" name="组合 57"/>
          <p:cNvGrpSpPr/>
          <p:nvPr/>
        </p:nvGrpSpPr>
        <p:grpSpPr>
          <a:xfrm>
            <a:off x="970280" y="1125855"/>
            <a:ext cx="8702675" cy="5639434"/>
            <a:chOff x="352163" y="2070792"/>
            <a:chExt cx="9938372" cy="4295881"/>
          </a:xfrm>
        </p:grpSpPr>
        <p:sp>
          <p:nvSpPr>
            <p:cNvPr id="43" name="矩形 42"/>
            <p:cNvSpPr/>
            <p:nvPr/>
          </p:nvSpPr>
          <p:spPr>
            <a:xfrm>
              <a:off x="352163" y="2070792"/>
              <a:ext cx="9938372" cy="4295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596543" y="3619167"/>
              <a:ext cx="9358241" cy="27010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运行仿真器程序</a:t>
              </a:r>
              <a:r>
                <a:rPr lang="en-US" altLang="zh-CN" dirty="0">
                  <a:solidFill>
                    <a:schemeClr val="tx1"/>
                  </a:solidFill>
                </a:rPr>
                <a:t>. </a:t>
              </a:r>
              <a:r>
                <a:rPr lang="zh-CN" altLang="en-US" dirty="0">
                  <a:solidFill>
                    <a:schemeClr val="tx1"/>
                  </a:solidFill>
                </a:rPr>
                <a:t>这将在</a:t>
              </a:r>
              <a:r>
                <a:rPr lang="en-US" altLang="zh-CN" dirty="0">
                  <a:solidFill>
                    <a:schemeClr val="tx1"/>
                  </a:solidFill>
                </a:rPr>
                <a:t>nemu</a:t>
              </a:r>
              <a:r>
                <a:rPr lang="zh-CN" altLang="en-US" dirty="0">
                  <a:solidFill>
                    <a:schemeClr val="tx1"/>
                  </a:solidFill>
                </a:rPr>
                <a:t>上执行</a:t>
              </a:r>
              <a:r>
                <a:rPr lang="en-US" altLang="zh-CN" dirty="0">
                  <a:solidFill>
                    <a:schemeClr val="tx1"/>
                  </a:solidFill>
                </a:rPr>
                <a:t>yield-os</a:t>
              </a:r>
              <a:r>
                <a:rPr lang="zh-CN" altLang="en-US" dirty="0">
                  <a:solidFill>
                    <a:schemeClr val="tx1"/>
                  </a:solidFill>
                </a:rPr>
                <a:t>的</a:t>
              </a:r>
              <a:r>
                <a:rPr lang="en-US" altLang="zh-CN" dirty="0">
                  <a:solidFill>
                    <a:schemeClr val="tx1"/>
                  </a:solidFill>
                </a:rPr>
                <a:t>main</a:t>
              </a:r>
              <a:r>
                <a:rPr lang="zh-CN" altLang="en-US" dirty="0">
                  <a:solidFill>
                    <a:schemeClr val="tx1"/>
                  </a:solidFill>
                </a:rPr>
                <a:t>函数</a:t>
              </a:r>
              <a:r>
                <a:rPr lang="en-US" altLang="zh-CN" dirty="0">
                  <a:solidFill>
                    <a:schemeClr val="tx1"/>
                  </a:solidFill>
                </a:rPr>
                <a:t>.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95818" y="2637707"/>
              <a:ext cx="9358966" cy="942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sym typeface="+mn-ea"/>
                </a:rPr>
                <a:t>载入</a:t>
              </a:r>
              <a:r>
                <a:rPr lang="zh-CN" altLang="en-US" dirty="0">
                  <a:solidFill>
                    <a:schemeClr val="tx1"/>
                  </a:solidFill>
                  <a:sym typeface="+mn-ea"/>
                </a:rPr>
                <a:t>客户程序</a:t>
              </a:r>
              <a:endParaRPr lang="zh-CN" altLang="en-US" dirty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95740" y="2131885"/>
              <a:ext cx="9358271" cy="38617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编译</a:t>
              </a:r>
              <a:r>
                <a:rPr lang="en-US" altLang="zh-CN" sz="1600" dirty="0">
                  <a:solidFill>
                    <a:schemeClr val="tx1"/>
                  </a:solidFill>
                </a:rPr>
                <a:t>nemu-interpreter</a:t>
              </a:r>
              <a:r>
                <a:rPr lang="zh-CN" altLang="en-US" sz="1600" dirty="0">
                  <a:solidFill>
                    <a:schemeClr val="tx1"/>
                  </a:solidFill>
                  <a:sym typeface="+mn-ea"/>
                </a:rPr>
                <a:t>可执行仿真</a:t>
              </a:r>
              <a:r>
                <a:rPr lang="zh-CN" altLang="en-US" sz="1600" dirty="0">
                  <a:solidFill>
                    <a:schemeClr val="tx1"/>
                  </a:solidFill>
                  <a:sym typeface="+mn-ea"/>
                </a:rPr>
                <a:t>器程序</a:t>
              </a:r>
              <a:r>
                <a:rPr lang="en-US" altLang="zh-CN" sz="1600" dirty="0">
                  <a:solidFill>
                    <a:schemeClr val="tx1"/>
                  </a:solidFill>
                </a:rPr>
                <a:t>.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205681" y="3901173"/>
              <a:ext cx="8182750" cy="8789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cte_init(schedule);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889509" y="2875696"/>
              <a:ext cx="8422054" cy="2786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include</a:t>
              </a:r>
              <a:r>
                <a:rPr lang="zh-CN" altLang="en-US" sz="1400" dirty="0">
                  <a:solidFill>
                    <a:schemeClr val="tx1"/>
                  </a:solidFill>
                  <a:sym typeface="+mn-ea"/>
                </a:rPr>
                <a:t>包括</a:t>
              </a:r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cte.c</a:t>
              </a:r>
              <a:r>
                <a:rPr lang="zh-CN" altLang="en-US" sz="1400" dirty="0">
                  <a:solidFill>
                    <a:schemeClr val="tx1"/>
                  </a:solidFill>
                  <a:sym typeface="+mn-ea"/>
                </a:rPr>
                <a:t>的</a:t>
              </a:r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am</a:t>
              </a:r>
              <a:r>
                <a:rPr lang="zh-CN" altLang="en-US" sz="1400" dirty="0">
                  <a:solidFill>
                    <a:schemeClr val="tx1"/>
                  </a:solidFill>
                  <a:sym typeface="+mn-ea"/>
                </a:rPr>
                <a:t>代码</a:t>
              </a:r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+</a:t>
              </a:r>
              <a:r>
                <a:rPr lang="zh-CN" altLang="en-US" sz="1400" dirty="0">
                  <a:solidFill>
                    <a:schemeClr val="tx1"/>
                  </a:solidFill>
                  <a:sym typeface="+mn-ea"/>
                </a:rPr>
                <a:t>客户程序代码</a:t>
              </a:r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yield-os.c, </a:t>
              </a:r>
              <a:r>
                <a:rPr lang="zh-CN" altLang="en-US" sz="1400" dirty="0">
                  <a:solidFill>
                    <a:schemeClr val="tx1"/>
                  </a:solidFill>
                  <a:sym typeface="+mn-ea"/>
                </a:rPr>
                <a:t>编译出</a:t>
              </a:r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image</a:t>
              </a:r>
              <a:r>
                <a:rPr lang="zh-CN" altLang="en-US" sz="1400" dirty="0">
                  <a:solidFill>
                    <a:schemeClr val="tx1"/>
                  </a:solidFill>
                  <a:sym typeface="+mn-ea"/>
                </a:rPr>
                <a:t>客户文件</a:t>
              </a:r>
              <a:r>
                <a:rPr lang="en-US" altLang="zh-CN" sz="1400" dirty="0">
                  <a:solidFill>
                    <a:schemeClr val="tx1"/>
                  </a:solidFill>
                  <a:sym typeface="+mn-ea"/>
                </a:rPr>
                <a:t>.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889508" y="3205590"/>
              <a:ext cx="6696164" cy="249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将</a:t>
              </a:r>
              <a:r>
                <a:rPr lang="en-US" altLang="zh-CN" sz="1400" dirty="0">
                  <a:solidFill>
                    <a:schemeClr val="tx1"/>
                  </a:solidFill>
                </a:rPr>
                <a:t>image</a:t>
              </a:r>
              <a:r>
                <a:rPr lang="zh-CN" altLang="en-US" sz="1400" dirty="0">
                  <a:solidFill>
                    <a:schemeClr val="tx1"/>
                  </a:solidFill>
                </a:rPr>
                <a:t>插入</a:t>
              </a:r>
              <a:r>
                <a:rPr lang="en-US" altLang="zh-CN" sz="1400" dirty="0">
                  <a:solidFill>
                    <a:schemeClr val="tx1"/>
                  </a:solidFill>
                </a:rPr>
                <a:t>nemu</a:t>
              </a:r>
              <a:r>
                <a:rPr lang="zh-CN" altLang="en-US" sz="1400" dirty="0">
                  <a:solidFill>
                    <a:schemeClr val="tx1"/>
                  </a:solidFill>
                </a:rPr>
                <a:t>可执行文件在</a:t>
              </a:r>
              <a:r>
                <a:rPr lang="en-US" altLang="zh-CN" sz="1400" dirty="0">
                  <a:solidFill>
                    <a:schemeClr val="tx1"/>
                  </a:solidFill>
                </a:rPr>
                <a:t>linux</a:t>
              </a:r>
              <a:r>
                <a:rPr lang="zh-CN" altLang="en-US" sz="1400" dirty="0">
                  <a:solidFill>
                    <a:schemeClr val="tx1"/>
                  </a:solidFill>
                </a:rPr>
                <a:t>内存中的</a:t>
              </a:r>
              <a:r>
                <a:rPr lang="en-US" altLang="zh-CN" sz="1400" dirty="0">
                  <a:solidFill>
                    <a:schemeClr val="tx1"/>
                  </a:solidFill>
                </a:rPr>
                <a:t>nemu</a:t>
              </a:r>
              <a:r>
                <a:rPr lang="zh-CN" altLang="en-US" sz="1400" dirty="0">
                  <a:solidFill>
                    <a:schemeClr val="tx1"/>
                  </a:solidFill>
                </a:rPr>
                <a:t>内存数组的位置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1957705" y="3774440"/>
            <a:ext cx="6727190" cy="327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将</a:t>
            </a:r>
            <a:r>
              <a:rPr lang="en-US" altLang="zh-CN" sz="1000" dirty="0">
                <a:solidFill>
                  <a:schemeClr val="tx1"/>
                </a:solidFill>
              </a:rPr>
              <a:t>yield-os.c</a:t>
            </a:r>
            <a:r>
              <a:rPr lang="zh-CN" altLang="en-US" sz="1000" dirty="0">
                <a:solidFill>
                  <a:schemeClr val="tx1"/>
                </a:solidFill>
              </a:rPr>
              <a:t>中定义的事件处理函数</a:t>
            </a:r>
            <a:r>
              <a:rPr lang="en-US" altLang="zh-CN" sz="1000" dirty="0">
                <a:solidFill>
                  <a:schemeClr val="tx1"/>
                </a:solidFill>
              </a:rPr>
              <a:t>`schedule`</a:t>
            </a:r>
            <a:r>
              <a:rPr lang="zh-CN" altLang="en-US" sz="1000" dirty="0">
                <a:solidFill>
                  <a:schemeClr val="tx1"/>
                </a:solidFill>
              </a:rPr>
              <a:t>注册为</a:t>
            </a:r>
            <a:r>
              <a:rPr lang="en-US" altLang="zh-CN" sz="1000" dirty="0">
                <a:solidFill>
                  <a:schemeClr val="tx1"/>
                </a:solidFill>
              </a:rPr>
              <a:t>(</a:t>
            </a:r>
            <a:r>
              <a:rPr lang="zh-CN" altLang="en-US" sz="1000" dirty="0">
                <a:solidFill>
                  <a:schemeClr val="tx1"/>
                </a:solidFill>
              </a:rPr>
              <a:t>作为右值赋值</a:t>
            </a:r>
            <a:r>
              <a:rPr lang="en-US" altLang="zh-CN" sz="1000" dirty="0">
                <a:solidFill>
                  <a:schemeClr val="tx1"/>
                </a:solidFill>
              </a:rPr>
              <a:t>)CTE.c</a:t>
            </a:r>
            <a:r>
              <a:rPr lang="zh-CN" altLang="en-US" sz="1000" dirty="0">
                <a:solidFill>
                  <a:schemeClr val="tx1"/>
                </a:solidFill>
              </a:rPr>
              <a:t>中的全局变量</a:t>
            </a:r>
            <a:r>
              <a:rPr lang="en-US" altLang="zh-CN" sz="1000" dirty="0">
                <a:solidFill>
                  <a:schemeClr val="tx1"/>
                </a:solidFill>
              </a:rPr>
              <a:t>user_handler</a:t>
            </a:r>
            <a:r>
              <a:rPr lang="zh-CN" altLang="en-US" sz="1000" dirty="0">
                <a:solidFill>
                  <a:schemeClr val="tx1"/>
                </a:solidFill>
              </a:rPr>
              <a:t>函数</a:t>
            </a:r>
            <a:r>
              <a:rPr lang="en-US" altLang="zh-CN" sz="1000" dirty="0">
                <a:solidFill>
                  <a:schemeClr val="tx1"/>
                </a:solidFill>
              </a:rPr>
              <a:t>.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7705" y="4187190"/>
            <a:ext cx="6727190" cy="327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将符号</a:t>
            </a:r>
            <a:r>
              <a:rPr lang="en-US" altLang="zh-CN" sz="1000" dirty="0">
                <a:solidFill>
                  <a:schemeClr val="tx1"/>
                </a:solidFill>
              </a:rPr>
              <a:t>`__am_asm_trap`</a:t>
            </a:r>
            <a:r>
              <a:rPr lang="zh-CN" altLang="en-US" sz="1000" dirty="0">
                <a:solidFill>
                  <a:schemeClr val="tx1"/>
                </a:solidFill>
              </a:rPr>
              <a:t>的地址写入</a:t>
            </a:r>
            <a:r>
              <a:rPr lang="en-US" altLang="zh-CN" sz="1000" dirty="0">
                <a:solidFill>
                  <a:schemeClr val="tx1"/>
                </a:solidFill>
              </a:rPr>
              <a:t>nemu</a:t>
            </a:r>
            <a:r>
              <a:rPr lang="zh-CN" altLang="en-US" sz="1000" dirty="0">
                <a:solidFill>
                  <a:schemeClr val="tx1"/>
                </a:solidFill>
              </a:rPr>
              <a:t>的</a:t>
            </a:r>
            <a:r>
              <a:rPr lang="en-US" altLang="zh-CN" sz="1000" dirty="0">
                <a:solidFill>
                  <a:schemeClr val="tx1"/>
                </a:solidFill>
              </a:rPr>
              <a:t>mtvec</a:t>
            </a:r>
            <a:r>
              <a:rPr lang="zh-CN" altLang="en-US" sz="1000" dirty="0">
                <a:solidFill>
                  <a:schemeClr val="tx1"/>
                </a:solidFill>
              </a:rPr>
              <a:t>寄存器</a:t>
            </a:r>
            <a:r>
              <a:rPr lang="en-US" altLang="zh-CN" sz="1000" dirty="0">
                <a:solidFill>
                  <a:schemeClr val="tx1"/>
                </a:solidFill>
              </a:rPr>
              <a:t>. </a:t>
            </a:r>
            <a:r>
              <a:rPr lang="zh-CN" altLang="en-US" sz="1000" dirty="0">
                <a:solidFill>
                  <a:schemeClr val="tx1"/>
                </a:solidFill>
              </a:rPr>
              <a:t>这符号在</a:t>
            </a:r>
            <a:r>
              <a:rPr lang="en-US" altLang="zh-CN" sz="1000" dirty="0">
                <a:solidFill>
                  <a:schemeClr val="tx1"/>
                </a:solidFill>
              </a:rPr>
              <a:t>trap.S</a:t>
            </a:r>
            <a:r>
              <a:rPr lang="zh-CN" altLang="en-US" sz="1000" dirty="0">
                <a:solidFill>
                  <a:schemeClr val="tx1"/>
                </a:solidFill>
              </a:rPr>
              <a:t>中声明</a:t>
            </a:r>
            <a:r>
              <a:rPr lang="en-US" altLang="zh-CN" sz="1000" dirty="0">
                <a:solidFill>
                  <a:schemeClr val="tx1"/>
                </a:solidFill>
              </a:rPr>
              <a:t>.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7675" y="4768850"/>
            <a:ext cx="716534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然后</a:t>
            </a:r>
            <a:r>
              <a:rPr lang="en-US" altLang="zh-CN" sz="1000" dirty="0">
                <a:solidFill>
                  <a:schemeClr val="tx1"/>
                </a:solidFill>
              </a:rPr>
              <a:t>main</a:t>
            </a:r>
            <a:r>
              <a:rPr lang="zh-CN" altLang="en-US" sz="1000" dirty="0">
                <a:solidFill>
                  <a:schemeClr val="tx1"/>
                </a:solidFill>
              </a:rPr>
              <a:t>函数将全局变量</a:t>
            </a:r>
            <a:r>
              <a:rPr lang="en-US" altLang="zh-CN" sz="1000" dirty="0">
                <a:solidFill>
                  <a:schemeClr val="tx1"/>
                </a:solidFill>
              </a:rPr>
              <a:t>pcb[0]</a:t>
            </a:r>
            <a:r>
              <a:rPr lang="zh-CN" altLang="en-US" sz="1000" dirty="0">
                <a:solidFill>
                  <a:schemeClr val="tx1"/>
                </a:solidFill>
              </a:rPr>
              <a:t>和</a:t>
            </a:r>
            <a:r>
              <a:rPr lang="en-US" altLang="zh-CN" sz="1000" dirty="0">
                <a:solidFill>
                  <a:schemeClr val="tx1"/>
                </a:solidFill>
              </a:rPr>
              <a:t>pcb[1]</a:t>
            </a:r>
            <a:r>
              <a:rPr lang="zh-CN" altLang="en-US" sz="1000" dirty="0">
                <a:solidFill>
                  <a:schemeClr val="tx1"/>
                </a:solidFill>
              </a:rPr>
              <a:t>的</a:t>
            </a:r>
            <a:r>
              <a:rPr lang="en-US" altLang="zh-CN" sz="1000" dirty="0">
                <a:solidFill>
                  <a:schemeClr val="tx1"/>
                </a:solidFill>
              </a:rPr>
              <a:t>cp</a:t>
            </a:r>
            <a:r>
              <a:rPr lang="zh-CN" altLang="en-US" sz="1000" dirty="0">
                <a:solidFill>
                  <a:schemeClr val="tx1"/>
                </a:solidFill>
              </a:rPr>
              <a:t>成员</a:t>
            </a:r>
            <a:r>
              <a:rPr lang="en-US" altLang="zh-CN" sz="1000" dirty="0">
                <a:solidFill>
                  <a:schemeClr val="tx1"/>
                </a:solidFill>
              </a:rPr>
              <a:t>(</a:t>
            </a:r>
            <a:r>
              <a:rPr lang="zh-CN" altLang="en-US" sz="1000" dirty="0">
                <a:solidFill>
                  <a:schemeClr val="tx1"/>
                </a:solidFill>
              </a:rPr>
              <a:t>即上下文指针</a:t>
            </a:r>
            <a:r>
              <a:rPr lang="en-US" altLang="zh-CN" sz="1000" dirty="0">
                <a:solidFill>
                  <a:schemeClr val="tx1"/>
                </a:solidFill>
              </a:rPr>
              <a:t>)</a:t>
            </a:r>
            <a:r>
              <a:rPr lang="zh-CN" altLang="en-US" sz="1000" dirty="0">
                <a:solidFill>
                  <a:schemeClr val="tx1"/>
                </a:solidFill>
              </a:rPr>
              <a:t>用</a:t>
            </a:r>
            <a:r>
              <a:rPr lang="en-US" altLang="zh-CN" sz="1000" dirty="0">
                <a:solidFill>
                  <a:schemeClr val="tx1"/>
                </a:solidFill>
              </a:rPr>
              <a:t>kcontext</a:t>
            </a:r>
            <a:r>
              <a:rPr lang="zh-CN" altLang="en-US" sz="1000" dirty="0">
                <a:solidFill>
                  <a:schemeClr val="tx1"/>
                </a:solidFill>
              </a:rPr>
              <a:t>函数初始化</a:t>
            </a:r>
            <a:r>
              <a:rPr lang="en-US" altLang="zh-CN" sz="1000" dirty="0">
                <a:solidFill>
                  <a:schemeClr val="tx1"/>
                </a:solidFill>
              </a:rPr>
              <a:t>. kcontext</a:t>
            </a:r>
            <a:r>
              <a:rPr lang="zh-CN" altLang="en-US" sz="1000" dirty="0">
                <a:solidFill>
                  <a:schemeClr val="tx1"/>
                </a:solidFill>
              </a:rPr>
              <a:t>函数将填入少量初始值</a:t>
            </a:r>
            <a:r>
              <a:rPr lang="en-US" altLang="zh-CN" sz="1000" dirty="0">
                <a:solidFill>
                  <a:schemeClr val="tx1"/>
                </a:solidFill>
              </a:rPr>
              <a:t>(mepc/mstatus/sp/a0), </a:t>
            </a:r>
            <a:r>
              <a:rPr lang="zh-CN" altLang="en-US" sz="1000" dirty="0">
                <a:solidFill>
                  <a:schemeClr val="tx1"/>
                </a:solidFill>
              </a:rPr>
              <a:t>然后返回栈顶指针</a:t>
            </a:r>
            <a:r>
              <a:rPr lang="en-US" altLang="zh-CN" sz="1000" dirty="0">
                <a:solidFill>
                  <a:schemeClr val="tx1"/>
                </a:solidFill>
              </a:rPr>
              <a:t>.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17675" y="5299075"/>
            <a:ext cx="7165340" cy="1342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运行</a:t>
            </a:r>
            <a:r>
              <a:rPr lang="en-US" altLang="zh-CN" sz="1000" dirty="0">
                <a:solidFill>
                  <a:schemeClr val="tx1"/>
                </a:solidFill>
              </a:rPr>
              <a:t>yield()</a:t>
            </a:r>
            <a:r>
              <a:rPr lang="zh-CN" altLang="en-US" sz="1000" dirty="0">
                <a:solidFill>
                  <a:schemeClr val="tx1"/>
                </a:solidFill>
              </a:rPr>
              <a:t>函数</a:t>
            </a:r>
            <a:r>
              <a:rPr lang="en-US" altLang="zh-CN" sz="1000" dirty="0">
                <a:solidFill>
                  <a:schemeClr val="tx1"/>
                </a:solidFill>
              </a:rPr>
              <a:t>: </a:t>
            </a:r>
            <a:r>
              <a:rPr lang="zh-CN" altLang="en-US" sz="1000" dirty="0">
                <a:solidFill>
                  <a:schemeClr val="tx1"/>
                </a:solidFill>
              </a:rPr>
              <a:t>即</a:t>
            </a:r>
            <a:r>
              <a:rPr lang="en-US" altLang="zh-CN" sz="1000" b="1" dirty="0">
                <a:solidFill>
                  <a:schemeClr val="tx1"/>
                </a:solidFill>
              </a:rPr>
              <a:t>li a7, -1; ecall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17065" y="5532120"/>
            <a:ext cx="6727190" cy="327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nemu</a:t>
            </a:r>
            <a:r>
              <a:rPr lang="zh-CN" altLang="en-US" sz="1000" dirty="0">
                <a:solidFill>
                  <a:schemeClr val="tx1"/>
                </a:solidFill>
              </a:rPr>
              <a:t>处理器执行</a:t>
            </a:r>
            <a:r>
              <a:rPr lang="en-US" altLang="zh-CN" sz="1000" dirty="0">
                <a:solidFill>
                  <a:schemeClr val="tx1"/>
                </a:solidFill>
              </a:rPr>
              <a:t>li a7, -1</a:t>
            </a:r>
            <a:r>
              <a:rPr lang="zh-CN" altLang="en-US" sz="1000" dirty="0">
                <a:solidFill>
                  <a:schemeClr val="tx1"/>
                </a:solidFill>
              </a:rPr>
              <a:t>指令</a:t>
            </a:r>
            <a:r>
              <a:rPr lang="en-US" altLang="zh-CN" sz="1000" dirty="0">
                <a:solidFill>
                  <a:schemeClr val="tx1"/>
                </a:solidFill>
              </a:rPr>
              <a:t>, </a:t>
            </a:r>
            <a:r>
              <a:rPr lang="zh-CN" altLang="en-US" sz="1000" dirty="0">
                <a:solidFill>
                  <a:schemeClr val="tx1"/>
                </a:solidFill>
              </a:rPr>
              <a:t>将</a:t>
            </a:r>
            <a:r>
              <a:rPr lang="en-US" altLang="zh-CN" sz="1000" dirty="0">
                <a:solidFill>
                  <a:schemeClr val="tx1"/>
                </a:solidFill>
              </a:rPr>
              <a:t>a7</a:t>
            </a:r>
            <a:r>
              <a:rPr lang="zh-CN" altLang="en-US" sz="1000" dirty="0">
                <a:solidFill>
                  <a:schemeClr val="tx1"/>
                </a:solidFill>
              </a:rPr>
              <a:t>寄存器设置为</a:t>
            </a:r>
            <a:r>
              <a:rPr lang="en-US" altLang="zh-CN" sz="1000" dirty="0">
                <a:solidFill>
                  <a:schemeClr val="tx1"/>
                </a:solidFill>
              </a:rPr>
              <a:t>-1, </a:t>
            </a:r>
            <a:r>
              <a:rPr lang="zh-CN" altLang="en-US" sz="1000" dirty="0">
                <a:solidFill>
                  <a:schemeClr val="tx1"/>
                </a:solidFill>
              </a:rPr>
              <a:t>这就是我们约定的系统调用号</a:t>
            </a:r>
            <a:r>
              <a:rPr lang="en-US" altLang="zh-CN" sz="1000" dirty="0">
                <a:solidFill>
                  <a:schemeClr val="tx1"/>
                </a:solidFill>
              </a:rPr>
              <a:t>, </a:t>
            </a:r>
            <a:r>
              <a:rPr lang="zh-CN" altLang="en-US" sz="1000" dirty="0">
                <a:solidFill>
                  <a:schemeClr val="tx1"/>
                </a:solidFill>
              </a:rPr>
              <a:t>表示这次中断是一个</a:t>
            </a:r>
            <a:r>
              <a:rPr lang="en-US" altLang="zh-CN" sz="1000" dirty="0">
                <a:solidFill>
                  <a:schemeClr val="tx1"/>
                </a:solidFill>
              </a:rPr>
              <a:t>yield</a:t>
            </a:r>
            <a:r>
              <a:rPr lang="zh-CN" altLang="en-US" sz="1000" dirty="0">
                <a:solidFill>
                  <a:schemeClr val="tx1"/>
                </a:solidFill>
              </a:rPr>
              <a:t>系统调用</a:t>
            </a:r>
            <a:r>
              <a:rPr lang="en-US" altLang="zh-CN" sz="1000" dirty="0">
                <a:solidFill>
                  <a:schemeClr val="tx1"/>
                </a:solidFill>
              </a:rPr>
              <a:t>.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7065" y="5919470"/>
            <a:ext cx="6727190" cy="327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nemu</a:t>
            </a:r>
            <a:r>
              <a:rPr lang="zh-CN" altLang="en-US" sz="800" dirty="0">
                <a:solidFill>
                  <a:schemeClr val="tx1"/>
                </a:solidFill>
              </a:rPr>
              <a:t>处理器执行</a:t>
            </a:r>
            <a:r>
              <a:rPr lang="en-US" altLang="zh-CN" sz="800" dirty="0">
                <a:solidFill>
                  <a:schemeClr val="tx1"/>
                </a:solidFill>
              </a:rPr>
              <a:t>ecall</a:t>
            </a:r>
            <a:r>
              <a:rPr lang="zh-CN" altLang="en-US" sz="800" dirty="0">
                <a:solidFill>
                  <a:schemeClr val="tx1"/>
                </a:solidFill>
              </a:rPr>
              <a:t>指令</a:t>
            </a:r>
            <a:r>
              <a:rPr lang="en-US" altLang="zh-CN" sz="800" dirty="0">
                <a:solidFill>
                  <a:schemeClr val="tx1"/>
                </a:solidFill>
              </a:rPr>
              <a:t>. </a:t>
            </a:r>
            <a:r>
              <a:rPr lang="zh-CN" altLang="en-US" sz="800" dirty="0">
                <a:solidFill>
                  <a:schemeClr val="tx1"/>
                </a:solidFill>
              </a:rPr>
              <a:t>这将让</a:t>
            </a:r>
            <a:r>
              <a:rPr lang="en-US" altLang="zh-CN" sz="800" dirty="0">
                <a:solidFill>
                  <a:schemeClr val="tx1"/>
                </a:solidFill>
              </a:rPr>
              <a:t>nemu</a:t>
            </a:r>
            <a:r>
              <a:rPr lang="zh-CN" altLang="en-US" sz="800" dirty="0">
                <a:solidFill>
                  <a:schemeClr val="tx1"/>
                </a:solidFill>
              </a:rPr>
              <a:t>将下一周期</a:t>
            </a:r>
            <a:r>
              <a:rPr lang="en-US" altLang="zh-CN" sz="800" dirty="0">
                <a:solidFill>
                  <a:schemeClr val="tx1"/>
                </a:solidFill>
              </a:rPr>
              <a:t>pc</a:t>
            </a:r>
            <a:r>
              <a:rPr lang="zh-CN" altLang="en-US" sz="800" dirty="0">
                <a:solidFill>
                  <a:schemeClr val="tx1"/>
                </a:solidFill>
              </a:rPr>
              <a:t>指针</a:t>
            </a:r>
            <a:r>
              <a:rPr lang="en-US" altLang="zh-CN" sz="800" dirty="0">
                <a:solidFill>
                  <a:schemeClr val="tx1"/>
                </a:solidFill>
              </a:rPr>
              <a:t>dnpc</a:t>
            </a:r>
            <a:r>
              <a:rPr lang="zh-CN" altLang="en-US" sz="800" dirty="0">
                <a:solidFill>
                  <a:schemeClr val="tx1"/>
                </a:solidFill>
              </a:rPr>
              <a:t>指向函数</a:t>
            </a:r>
            <a:r>
              <a:rPr lang="en-US" altLang="zh-CN" sz="800" dirty="0">
                <a:solidFill>
                  <a:schemeClr val="tx1"/>
                </a:solidFill>
              </a:rPr>
              <a:t>`isa_raise_intr`</a:t>
            </a:r>
            <a:r>
              <a:rPr lang="zh-CN" altLang="en-US" sz="800" dirty="0">
                <a:solidFill>
                  <a:schemeClr val="tx1"/>
                </a:solidFill>
              </a:rPr>
              <a:t>函数</a:t>
            </a:r>
            <a:r>
              <a:rPr lang="en-US" altLang="zh-CN" sz="800" dirty="0">
                <a:solidFill>
                  <a:schemeClr val="tx1"/>
                </a:solidFill>
              </a:rPr>
              <a:t>(nemu</a:t>
            </a:r>
            <a:r>
              <a:rPr lang="zh-CN" altLang="en-US" sz="800" dirty="0">
                <a:solidFill>
                  <a:schemeClr val="tx1"/>
                </a:solidFill>
              </a:rPr>
              <a:t>的中断处理函数</a:t>
            </a:r>
            <a:r>
              <a:rPr lang="en-US" altLang="zh-CN" sz="800" dirty="0">
                <a:solidFill>
                  <a:schemeClr val="tx1"/>
                </a:solidFill>
              </a:rPr>
              <a:t>). </a:t>
            </a:r>
            <a:r>
              <a:rPr lang="zh-CN" altLang="en-US" sz="800" dirty="0">
                <a:solidFill>
                  <a:schemeClr val="tx1"/>
                </a:solidFill>
              </a:rPr>
              <a:t>于是真机运行</a:t>
            </a:r>
            <a:r>
              <a:rPr lang="en-US" altLang="zh-CN" sz="800" dirty="0">
                <a:solidFill>
                  <a:schemeClr val="tx1"/>
                </a:solidFill>
              </a:rPr>
              <a:t>isa_raise_intr</a:t>
            </a:r>
            <a:r>
              <a:rPr lang="zh-CN" altLang="en-US" sz="800" dirty="0">
                <a:solidFill>
                  <a:schemeClr val="tx1"/>
                </a:solidFill>
              </a:rPr>
              <a:t>函数</a:t>
            </a:r>
            <a:r>
              <a:rPr lang="en-US" altLang="zh-CN" sz="800" dirty="0">
                <a:solidFill>
                  <a:schemeClr val="tx1"/>
                </a:solidFill>
              </a:rPr>
              <a:t>, nemu</a:t>
            </a:r>
            <a:r>
              <a:rPr lang="zh-CN" altLang="en-US" sz="800" dirty="0">
                <a:solidFill>
                  <a:schemeClr val="tx1"/>
                </a:solidFill>
              </a:rPr>
              <a:t>准备上下文</a:t>
            </a:r>
            <a:r>
              <a:rPr lang="en-US" altLang="zh-CN" sz="800" dirty="0">
                <a:solidFill>
                  <a:schemeClr val="tx1"/>
                </a:solidFill>
              </a:rPr>
              <a:t>, </a:t>
            </a:r>
            <a:r>
              <a:rPr lang="zh-CN" altLang="en-US" sz="800" dirty="0">
                <a:solidFill>
                  <a:schemeClr val="tx1"/>
                </a:solidFill>
              </a:rPr>
              <a:t>准备跳转到</a:t>
            </a:r>
            <a:r>
              <a:rPr lang="en-US" altLang="zh-CN" sz="800" dirty="0">
                <a:solidFill>
                  <a:schemeClr val="tx1"/>
                </a:solidFill>
              </a:rPr>
              <a:t>mtvec</a:t>
            </a:r>
            <a:r>
              <a:rPr lang="zh-CN" altLang="en-US" sz="800" dirty="0">
                <a:solidFill>
                  <a:schemeClr val="tx1"/>
                </a:solidFill>
              </a:rPr>
              <a:t>寄存器指向的</a:t>
            </a:r>
            <a:r>
              <a:rPr lang="en-US" altLang="zh-CN" sz="800" dirty="0">
                <a:solidFill>
                  <a:schemeClr val="tx1"/>
                </a:solidFill>
              </a:rPr>
              <a:t>nemu</a:t>
            </a:r>
            <a:r>
              <a:rPr lang="zh-CN" altLang="en-US" sz="800" dirty="0">
                <a:solidFill>
                  <a:schemeClr val="tx1"/>
                </a:solidFill>
              </a:rPr>
              <a:t>虚拟地址</a:t>
            </a:r>
            <a:r>
              <a:rPr lang="en-US" altLang="zh-CN" sz="800" dirty="0">
                <a:solidFill>
                  <a:schemeClr val="tx1"/>
                </a:solidFill>
              </a:rPr>
              <a:t>, </a:t>
            </a:r>
            <a:r>
              <a:rPr lang="zh-CN" altLang="en-US" sz="800" dirty="0">
                <a:solidFill>
                  <a:schemeClr val="tx1"/>
                </a:solidFill>
              </a:rPr>
              <a:t>也就是</a:t>
            </a:r>
            <a:r>
              <a:rPr lang="en-US" altLang="zh-CN" sz="800" dirty="0">
                <a:solidFill>
                  <a:schemeClr val="tx1"/>
                </a:solidFill>
              </a:rPr>
              <a:t>__am_asm_trap.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17065" y="6306820"/>
            <a:ext cx="6727190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nemu</a:t>
            </a:r>
            <a:r>
              <a:rPr lang="zh-CN" altLang="en-US" sz="1000" dirty="0">
                <a:solidFill>
                  <a:schemeClr val="tx1"/>
                </a:solidFill>
              </a:rPr>
              <a:t>在下个周期开始运行</a:t>
            </a:r>
            <a:r>
              <a:rPr lang="en-US" altLang="zh-CN" sz="1000" dirty="0">
                <a:solidFill>
                  <a:schemeClr val="tx1"/>
                </a:solidFill>
              </a:rPr>
              <a:t>__am_asm_trap</a:t>
            </a:r>
            <a:r>
              <a:rPr lang="zh-CN" altLang="en-US" sz="1000" dirty="0">
                <a:solidFill>
                  <a:schemeClr val="tx1"/>
                </a:solidFill>
              </a:rPr>
              <a:t>函数</a:t>
            </a:r>
            <a:r>
              <a:rPr lang="en-US" altLang="zh-CN" sz="1000" dirty="0">
                <a:solidFill>
                  <a:schemeClr val="tx1"/>
                </a:solidFill>
              </a:rPr>
              <a:t>.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2097161" name="直接连接符 2097160"/>
          <p:cNvCxnSpPr/>
          <p:nvPr/>
        </p:nvCxnSpPr>
        <p:spPr>
          <a:xfrm flipV="1">
            <a:off x="6754272" y="2615803"/>
            <a:ext cx="3245485" cy="381889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9761220" y="778510"/>
            <a:ext cx="2369185" cy="4340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__am_asm_trap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986645" y="1125855"/>
            <a:ext cx="201549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</a:rPr>
              <a:t>在</a:t>
            </a:r>
            <a:r>
              <a:rPr lang="en-US" altLang="zh-CN" sz="800" dirty="0">
                <a:solidFill>
                  <a:schemeClr val="tx1"/>
                </a:solidFill>
              </a:rPr>
              <a:t>stack</a:t>
            </a:r>
            <a:r>
              <a:rPr lang="zh-CN" altLang="en-US" sz="800" dirty="0">
                <a:solidFill>
                  <a:schemeClr val="tx1"/>
                </a:solidFill>
              </a:rPr>
              <a:t>上保存</a:t>
            </a:r>
            <a:r>
              <a:rPr lang="en-US" altLang="zh-CN" sz="800" dirty="0">
                <a:solidFill>
                  <a:schemeClr val="tx1"/>
                </a:solidFill>
              </a:rPr>
              <a:t>gpr</a:t>
            </a:r>
            <a:r>
              <a:rPr lang="zh-CN" altLang="en-US" sz="800" dirty="0">
                <a:solidFill>
                  <a:schemeClr val="tx1"/>
                </a:solidFill>
              </a:rPr>
              <a:t>等寄存器上下文</a:t>
            </a:r>
            <a:r>
              <a:rPr lang="en-US" altLang="zh-CN" sz="800" dirty="0">
                <a:solidFill>
                  <a:schemeClr val="tx1"/>
                </a:solidFill>
              </a:rPr>
              <a:t>.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99980" y="1595755"/>
            <a:ext cx="2001520" cy="3399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</a:rPr>
              <a:t>调用</a:t>
            </a:r>
            <a:r>
              <a:rPr lang="en-US" altLang="zh-CN" sz="800" dirty="0">
                <a:solidFill>
                  <a:schemeClr val="tx1"/>
                </a:solidFill>
              </a:rPr>
              <a:t>cte.c</a:t>
            </a:r>
            <a:r>
              <a:rPr lang="zh-CN" altLang="en-US" sz="800" dirty="0">
                <a:solidFill>
                  <a:schemeClr val="tx1"/>
                </a:solidFill>
              </a:rPr>
              <a:t>中的</a:t>
            </a:r>
            <a:r>
              <a:rPr lang="en-US" altLang="zh-CN" sz="800" dirty="0">
                <a:solidFill>
                  <a:schemeClr val="tx1"/>
                </a:solidFill>
              </a:rPr>
              <a:t>C</a:t>
            </a:r>
            <a:r>
              <a:rPr lang="zh-CN" altLang="en-US" sz="800" dirty="0">
                <a:solidFill>
                  <a:schemeClr val="tx1"/>
                </a:solidFill>
              </a:rPr>
              <a:t>函数</a:t>
            </a:r>
            <a:r>
              <a:rPr lang="en-US" altLang="zh-CN" sz="800" dirty="0">
                <a:solidFill>
                  <a:schemeClr val="tx1"/>
                </a:solidFill>
              </a:rPr>
              <a:t>`__am_irq_handle`(ecall</a:t>
            </a:r>
            <a:r>
              <a:rPr lang="zh-CN" altLang="en-US" sz="800" dirty="0">
                <a:solidFill>
                  <a:schemeClr val="tx1"/>
                </a:solidFill>
              </a:rPr>
              <a:t>下</a:t>
            </a:r>
            <a:r>
              <a:rPr lang="en-US" altLang="zh-CN" sz="800" dirty="0">
                <a:solidFill>
                  <a:schemeClr val="tx1"/>
                </a:solidFill>
              </a:rPr>
              <a:t>a7=-1, </a:t>
            </a:r>
            <a:r>
              <a:rPr lang="zh-CN" altLang="en-US" sz="800" dirty="0">
                <a:solidFill>
                  <a:schemeClr val="tx1"/>
                </a:solidFill>
              </a:rPr>
              <a:t>此时</a:t>
            </a:r>
            <a:r>
              <a:rPr lang="en-US" altLang="zh-CN" sz="800" dirty="0">
                <a:solidFill>
                  <a:schemeClr val="tx1"/>
                </a:solidFill>
              </a:rPr>
              <a:t>:)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13645" y="1991995"/>
            <a:ext cx="1775460" cy="2489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</a:rPr>
              <a:t>令</a:t>
            </a:r>
            <a:r>
              <a:rPr lang="en-US" altLang="zh-CN" sz="800" dirty="0">
                <a:solidFill>
                  <a:schemeClr val="tx1"/>
                </a:solidFill>
              </a:rPr>
              <a:t>mepc+=4(</a:t>
            </a:r>
            <a:r>
              <a:rPr lang="zh-CN" altLang="en-US" sz="800" dirty="0">
                <a:solidFill>
                  <a:schemeClr val="tx1"/>
                </a:solidFill>
              </a:rPr>
              <a:t>跳过</a:t>
            </a:r>
            <a:r>
              <a:rPr lang="en-US" altLang="zh-CN" sz="800" dirty="0">
                <a:solidFill>
                  <a:schemeClr val="tx1"/>
                </a:solidFill>
              </a:rPr>
              <a:t>ecall</a:t>
            </a:r>
            <a:r>
              <a:rPr lang="zh-CN" altLang="en-US" sz="800" dirty="0">
                <a:solidFill>
                  <a:schemeClr val="tx1"/>
                </a:solidFill>
              </a:rPr>
              <a:t>指令</a:t>
            </a:r>
            <a:r>
              <a:rPr lang="en-US" altLang="zh-CN" sz="800" dirty="0">
                <a:solidFill>
                  <a:schemeClr val="tx1"/>
                </a:solidFill>
              </a:rPr>
              <a:t>)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13645" y="2366645"/>
            <a:ext cx="1775460" cy="24644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</a:rPr>
              <a:t>调用之前注册的事件处理函数</a:t>
            </a:r>
            <a:r>
              <a:rPr lang="en-US" altLang="zh-CN" sz="800" dirty="0">
                <a:solidFill>
                  <a:schemeClr val="tx1"/>
                </a:solidFill>
              </a:rPr>
              <a:t>schedule.</a:t>
            </a:r>
            <a:r>
              <a:rPr lang="zh-CN" altLang="en-US" sz="800" dirty="0">
                <a:solidFill>
                  <a:schemeClr val="tx1"/>
                </a:solidFill>
              </a:rPr>
              <a:t>传入</a:t>
            </a:r>
            <a:r>
              <a:rPr lang="en-US" altLang="zh-CN" sz="800" dirty="0">
                <a:solidFill>
                  <a:schemeClr val="tx1"/>
                </a:solidFill>
              </a:rPr>
              <a:t>: 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226040" y="2694305"/>
            <a:ext cx="1588770" cy="464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</a:rPr>
              <a:t>将当前任务的上下文</a:t>
            </a:r>
            <a:r>
              <a:rPr lang="en-US" altLang="zh-CN" sz="800" dirty="0">
                <a:solidFill>
                  <a:schemeClr val="tx1"/>
                </a:solidFill>
              </a:rPr>
              <a:t>(</a:t>
            </a:r>
            <a:r>
              <a:rPr lang="zh-CN" altLang="en-US" sz="800" dirty="0">
                <a:solidFill>
                  <a:schemeClr val="tx1"/>
                </a:solidFill>
              </a:rPr>
              <a:t>它是栈区的一个</a:t>
            </a:r>
            <a:r>
              <a:rPr lang="en-US" altLang="zh-CN" sz="800" dirty="0">
                <a:solidFill>
                  <a:schemeClr val="tx1"/>
                </a:solidFill>
              </a:rPr>
              <a:t>Context</a:t>
            </a:r>
            <a:r>
              <a:rPr lang="zh-CN" altLang="en-US" sz="800" dirty="0">
                <a:solidFill>
                  <a:schemeClr val="tx1"/>
                </a:solidFill>
              </a:rPr>
              <a:t>结构体</a:t>
            </a:r>
            <a:r>
              <a:rPr lang="en-US" altLang="zh-CN" sz="800" dirty="0">
                <a:solidFill>
                  <a:schemeClr val="tx1"/>
                </a:solidFill>
              </a:rPr>
              <a:t>)</a:t>
            </a:r>
            <a:r>
              <a:rPr lang="zh-CN" altLang="en-US" sz="800" dirty="0">
                <a:solidFill>
                  <a:schemeClr val="tx1"/>
                </a:solidFill>
              </a:rPr>
              <a:t>保存到</a:t>
            </a:r>
            <a:r>
              <a:rPr lang="en-US" altLang="zh-CN" sz="800" dirty="0">
                <a:solidFill>
                  <a:schemeClr val="tx1"/>
                </a:solidFill>
              </a:rPr>
              <a:t>current-&gt;cp</a:t>
            </a:r>
            <a:r>
              <a:rPr lang="zh-CN" altLang="en-US" sz="800" dirty="0">
                <a:solidFill>
                  <a:schemeClr val="tx1"/>
                </a:solidFill>
              </a:rPr>
              <a:t>中</a:t>
            </a:r>
            <a:r>
              <a:rPr lang="en-US" altLang="zh-CN" sz="800" dirty="0">
                <a:solidFill>
                  <a:schemeClr val="tx1"/>
                </a:solidFill>
              </a:rPr>
              <a:t>.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226040" y="3927475"/>
            <a:ext cx="1588770" cy="698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</a:rPr>
              <a:t>schedule </a:t>
            </a:r>
            <a:r>
              <a:rPr lang="zh-CN" altLang="en-US" sz="800" b="1" dirty="0">
                <a:solidFill>
                  <a:schemeClr val="tx1"/>
                </a:solidFill>
              </a:rPr>
              <a:t>返回后</a:t>
            </a:r>
            <a:r>
              <a:rPr lang="en-US" altLang="zh-CN" sz="800" b="1" dirty="0">
                <a:solidFill>
                  <a:schemeClr val="tx1"/>
                </a:solidFill>
              </a:rPr>
              <a:t>, __am_irq_handle </a:t>
            </a:r>
            <a:r>
              <a:rPr lang="zh-CN" altLang="en-US" sz="800" b="1" dirty="0">
                <a:solidFill>
                  <a:schemeClr val="tx1"/>
                </a:solidFill>
              </a:rPr>
              <a:t>将</a:t>
            </a:r>
            <a:r>
              <a:rPr lang="en-US" altLang="zh-CN" sz="800" b="1" dirty="0">
                <a:solidFill>
                  <a:schemeClr val="tx1"/>
                </a:solidFill>
              </a:rPr>
              <a:t> pcb[0].cp </a:t>
            </a:r>
            <a:r>
              <a:rPr lang="zh-CN" altLang="en-US" sz="800" b="1" dirty="0">
                <a:solidFill>
                  <a:schemeClr val="tx1"/>
                </a:solidFill>
              </a:rPr>
              <a:t>存入</a:t>
            </a:r>
            <a:r>
              <a:rPr lang="en-US" altLang="zh-CN" sz="800" b="1" dirty="0">
                <a:solidFill>
                  <a:schemeClr val="tx1"/>
                </a:solidFill>
              </a:rPr>
              <a:t> a0 </a:t>
            </a:r>
            <a:r>
              <a:rPr lang="zh-CN" altLang="en-US" sz="800" b="1" dirty="0">
                <a:solidFill>
                  <a:schemeClr val="tx1"/>
                </a:solidFill>
              </a:rPr>
              <a:t>并</a:t>
            </a:r>
            <a:r>
              <a:rPr lang="en-US" altLang="zh-CN" sz="800" b="1" dirty="0">
                <a:solidFill>
                  <a:schemeClr val="tx1"/>
                </a:solidFill>
              </a:rPr>
              <a:t> return, </a:t>
            </a:r>
            <a:r>
              <a:rPr lang="zh-CN" altLang="en-US" sz="800" b="1" dirty="0">
                <a:solidFill>
                  <a:schemeClr val="tx1"/>
                </a:solidFill>
              </a:rPr>
              <a:t>回到</a:t>
            </a:r>
            <a:r>
              <a:rPr lang="en-US" altLang="zh-CN" sz="800" b="1" dirty="0">
                <a:solidFill>
                  <a:schemeClr val="tx1"/>
                </a:solidFill>
              </a:rPr>
              <a:t> trap.S.</a:t>
            </a:r>
            <a:endParaRPr lang="en-US" altLang="zh-CN" sz="800" b="1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26040" y="3285490"/>
            <a:ext cx="1588770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</a:rPr>
              <a:t>schedule</a:t>
            </a:r>
            <a:r>
              <a:rPr lang="zh-CN" altLang="en-US" sz="800" b="1" dirty="0">
                <a:solidFill>
                  <a:schemeClr val="tx1"/>
                </a:solidFill>
              </a:rPr>
              <a:t>函数最终返回</a:t>
            </a:r>
            <a:r>
              <a:rPr lang="en-US" altLang="zh-CN" sz="800" b="1" dirty="0">
                <a:solidFill>
                  <a:schemeClr val="tx1"/>
                </a:solidFill>
              </a:rPr>
              <a:t> pcb[0].cp. </a:t>
            </a:r>
            <a:r>
              <a:rPr lang="zh-CN" altLang="en-US" sz="800" b="1" dirty="0">
                <a:solidFill>
                  <a:schemeClr val="tx1"/>
                </a:solidFill>
              </a:rPr>
              <a:t>这是</a:t>
            </a:r>
            <a:r>
              <a:rPr lang="en-US" altLang="zh-CN" sz="800" b="1" dirty="0">
                <a:solidFill>
                  <a:schemeClr val="tx1"/>
                </a:solidFill>
              </a:rPr>
              <a:t> kcontext </a:t>
            </a:r>
            <a:r>
              <a:rPr lang="zh-CN" altLang="en-US" sz="800" b="1" dirty="0">
                <a:solidFill>
                  <a:schemeClr val="tx1"/>
                </a:solidFill>
              </a:rPr>
              <a:t>初始化时写入的</a:t>
            </a:r>
            <a:r>
              <a:rPr lang="en-US" altLang="zh-CN" sz="800" b="1" dirty="0">
                <a:solidFill>
                  <a:schemeClr val="tx1"/>
                </a:solidFill>
              </a:rPr>
              <a:t> pcb[0].stack </a:t>
            </a:r>
            <a:r>
              <a:rPr lang="zh-CN" altLang="en-US" sz="800" b="1" dirty="0">
                <a:solidFill>
                  <a:schemeClr val="tx1"/>
                </a:solidFill>
              </a:rPr>
              <a:t>栈顶的</a:t>
            </a:r>
            <a:r>
              <a:rPr lang="en-US" altLang="zh-CN" sz="800" b="1" dirty="0">
                <a:solidFill>
                  <a:schemeClr val="tx1"/>
                </a:solidFill>
              </a:rPr>
              <a:t> Context </a:t>
            </a:r>
            <a:r>
              <a:rPr lang="zh-CN" altLang="en-US" sz="800" b="1" dirty="0">
                <a:solidFill>
                  <a:schemeClr val="tx1"/>
                </a:solidFill>
              </a:rPr>
              <a:t>结构体指针</a:t>
            </a:r>
            <a:r>
              <a:rPr lang="en-US" altLang="zh-CN" sz="800" b="1" dirty="0">
                <a:solidFill>
                  <a:schemeClr val="tx1"/>
                </a:solidFill>
              </a:rPr>
              <a:t>.</a:t>
            </a:r>
            <a:endParaRPr lang="en-US" altLang="zh-CN" sz="800" b="1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61220" y="5213350"/>
            <a:ext cx="2369185" cy="693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</a:rPr>
              <a:t>trap.S </a:t>
            </a:r>
            <a:r>
              <a:rPr lang="zh-CN" altLang="en-US" sz="800" b="1" dirty="0">
                <a:solidFill>
                  <a:schemeClr val="tx1"/>
                </a:solidFill>
              </a:rPr>
              <a:t>执行</a:t>
            </a:r>
            <a:r>
              <a:rPr lang="en-US" altLang="zh-CN" sz="800" b="1" dirty="0">
                <a:solidFill>
                  <a:schemeClr val="tx1"/>
                </a:solidFill>
              </a:rPr>
              <a:t> `mv sp, a0`: sp </a:t>
            </a:r>
            <a:r>
              <a:rPr lang="zh-CN" altLang="en-US" sz="800" b="1" dirty="0">
                <a:solidFill>
                  <a:schemeClr val="tx1"/>
                </a:solidFill>
              </a:rPr>
              <a:t>从</a:t>
            </a:r>
            <a:r>
              <a:rPr lang="en-US" altLang="zh-CN" sz="800" b="1" dirty="0">
                <a:solidFill>
                  <a:schemeClr val="tx1"/>
                </a:solidFill>
              </a:rPr>
              <a:t> main </a:t>
            </a:r>
            <a:r>
              <a:rPr lang="zh-CN" altLang="en-US" sz="800" b="1" dirty="0">
                <a:solidFill>
                  <a:schemeClr val="tx1"/>
                </a:solidFill>
              </a:rPr>
              <a:t>的启动栈顶</a:t>
            </a:r>
            <a:r>
              <a:rPr lang="en-US" altLang="zh-CN" sz="800" b="1" dirty="0">
                <a:solidFill>
                  <a:schemeClr val="tx1"/>
                </a:solidFill>
              </a:rPr>
              <a:t> </a:t>
            </a:r>
            <a:r>
              <a:rPr lang="zh-CN" altLang="en-US" sz="800" b="1" dirty="0">
                <a:solidFill>
                  <a:schemeClr val="tx1"/>
                </a:solidFill>
              </a:rPr>
              <a:t>切换到</a:t>
            </a:r>
            <a:r>
              <a:rPr lang="en-US" altLang="zh-CN" sz="800" b="1" dirty="0">
                <a:solidFill>
                  <a:schemeClr val="tx1"/>
                </a:solidFill>
              </a:rPr>
              <a:t> pcb[0].cp </a:t>
            </a:r>
            <a:r>
              <a:rPr lang="zh-CN" altLang="en-US" sz="800" b="1" dirty="0">
                <a:solidFill>
                  <a:schemeClr val="tx1"/>
                </a:solidFill>
              </a:rPr>
              <a:t>所指地址</a:t>
            </a:r>
            <a:r>
              <a:rPr lang="en-US" altLang="zh-CN" sz="800" b="1" dirty="0">
                <a:solidFill>
                  <a:schemeClr val="tx1"/>
                </a:solidFill>
              </a:rPr>
              <a:t>, </a:t>
            </a:r>
            <a:r>
              <a:rPr lang="zh-CN" altLang="en-US" sz="800" b="1" dirty="0">
                <a:solidFill>
                  <a:schemeClr val="tx1"/>
                </a:solidFill>
              </a:rPr>
              <a:t>此后所有</a:t>
            </a:r>
            <a:r>
              <a:rPr lang="en-US" altLang="zh-CN" sz="800" b="1" dirty="0">
                <a:solidFill>
                  <a:schemeClr val="tx1"/>
                </a:solidFill>
              </a:rPr>
              <a:t> lw </a:t>
            </a:r>
            <a:r>
              <a:rPr lang="zh-CN" altLang="en-US" sz="800" b="1" dirty="0">
                <a:solidFill>
                  <a:schemeClr val="tx1"/>
                </a:solidFill>
              </a:rPr>
              <a:t>都从</a:t>
            </a:r>
            <a:r>
              <a:rPr lang="en-US" altLang="zh-CN" sz="800" b="1" dirty="0">
                <a:solidFill>
                  <a:schemeClr val="tx1"/>
                </a:solidFill>
              </a:rPr>
              <a:t> pcb[0].stack </a:t>
            </a:r>
            <a:r>
              <a:rPr lang="zh-CN" altLang="en-US" sz="800" b="1" dirty="0">
                <a:solidFill>
                  <a:schemeClr val="tx1"/>
                </a:solidFill>
              </a:rPr>
              <a:t>的顶部的</a:t>
            </a:r>
            <a:r>
              <a:rPr lang="en-US" altLang="zh-CN" sz="800" b="1" dirty="0">
                <a:solidFill>
                  <a:schemeClr val="tx1"/>
                </a:solidFill>
              </a:rPr>
              <a:t> Context </a:t>
            </a:r>
            <a:r>
              <a:rPr lang="zh-CN" altLang="en-US" sz="800" b="1" dirty="0">
                <a:solidFill>
                  <a:schemeClr val="tx1"/>
                </a:solidFill>
              </a:rPr>
              <a:t>结构体里读数据</a:t>
            </a:r>
            <a:r>
              <a:rPr lang="en-US" altLang="zh-CN" sz="800" b="1" dirty="0">
                <a:solidFill>
                  <a:schemeClr val="tx1"/>
                </a:solidFill>
              </a:rPr>
              <a:t>.</a:t>
            </a:r>
            <a:endParaRPr lang="en-US" altLang="zh-CN" sz="8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800" b="1" dirty="0">
                <a:solidFill>
                  <a:schemeClr val="tx1"/>
                </a:solidFill>
              </a:rPr>
              <a:t>mret: PC </a:t>
            </a:r>
            <a:r>
              <a:rPr lang="zh-CN" altLang="en-US" sz="800" b="1" dirty="0">
                <a:solidFill>
                  <a:schemeClr val="tx1"/>
                </a:solidFill>
              </a:rPr>
              <a:t>跳转到</a:t>
            </a:r>
            <a:r>
              <a:rPr lang="en-US" altLang="zh-CN" sz="800" b="1" dirty="0">
                <a:solidFill>
                  <a:schemeClr val="tx1"/>
                </a:solidFill>
              </a:rPr>
              <a:t> mepc = f. </a:t>
            </a:r>
            <a:r>
              <a:rPr lang="zh-CN" altLang="en-US" sz="800" b="1" dirty="0">
                <a:solidFill>
                  <a:schemeClr val="tx1"/>
                </a:solidFill>
              </a:rPr>
              <a:t>第一个参数</a:t>
            </a:r>
            <a:r>
              <a:rPr lang="en-US" altLang="zh-CN" sz="800" b="1" dirty="0">
                <a:solidFill>
                  <a:schemeClr val="tx1"/>
                </a:solidFill>
              </a:rPr>
              <a:t> a0 = 1L. CPU </a:t>
            </a:r>
            <a:r>
              <a:rPr lang="zh-CN" altLang="en-US" sz="800" b="1" dirty="0">
                <a:solidFill>
                  <a:schemeClr val="tx1"/>
                </a:solidFill>
              </a:rPr>
              <a:t>开始执行</a:t>
            </a:r>
            <a:r>
              <a:rPr lang="en-US" altLang="zh-CN" sz="800" b="1" dirty="0">
                <a:solidFill>
                  <a:schemeClr val="tx1"/>
                </a:solidFill>
              </a:rPr>
              <a:t> f(1).</a:t>
            </a:r>
            <a:endParaRPr lang="en-US" altLang="zh-CN" sz="800" b="1" dirty="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672955" y="5919470"/>
            <a:ext cx="2519045" cy="1066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如此往复</a:t>
            </a:r>
            <a:r>
              <a:rPr lang="en-US" altLang="zh-CN" sz="800"/>
              <a:t>: </a:t>
            </a:r>
            <a:r>
              <a:rPr lang="zh-CN" altLang="en-US" sz="800"/>
              <a:t>每次</a:t>
            </a:r>
            <a:r>
              <a:rPr lang="en-US" altLang="zh-CN" sz="800"/>
              <a:t> yield() </a:t>
            </a:r>
            <a:r>
              <a:rPr lang="zh-CN" altLang="en-US" sz="800"/>
              <a:t>都让</a:t>
            </a:r>
            <a:r>
              <a:rPr lang="en-US" altLang="zh-CN" sz="800"/>
              <a:t> schedule </a:t>
            </a:r>
            <a:r>
              <a:rPr lang="zh-CN" altLang="en-US" sz="800"/>
              <a:t>把</a:t>
            </a:r>
            <a:r>
              <a:rPr lang="en-US" altLang="zh-CN" sz="800"/>
              <a:t> current </a:t>
            </a:r>
            <a:r>
              <a:rPr lang="zh-CN" altLang="en-US" sz="800"/>
              <a:t>在</a:t>
            </a:r>
            <a:r>
              <a:rPr lang="en-US" altLang="zh-CN" sz="800"/>
              <a:t> pcb[0] </a:t>
            </a:r>
            <a:r>
              <a:rPr lang="zh-CN" altLang="en-US" sz="800"/>
              <a:t>和</a:t>
            </a:r>
            <a:r>
              <a:rPr lang="en-US" altLang="zh-CN" sz="800"/>
              <a:t> pcb[1] </a:t>
            </a:r>
            <a:r>
              <a:rPr lang="zh-CN" altLang="en-US" sz="800"/>
              <a:t>之间交替</a:t>
            </a:r>
            <a:r>
              <a:rPr lang="en-US" altLang="zh-CN" sz="800"/>
              <a:t>.</a:t>
            </a:r>
            <a:endParaRPr lang="en-US" altLang="zh-CN" sz="800"/>
          </a:p>
          <a:p>
            <a:r>
              <a:rPr lang="en-US" altLang="zh-CN" sz="800"/>
              <a:t>trap.S </a:t>
            </a:r>
            <a:r>
              <a:rPr lang="zh-CN" altLang="en-US" sz="800"/>
              <a:t>的</a:t>
            </a:r>
            <a:r>
              <a:rPr lang="en-US" altLang="zh-CN" sz="800"/>
              <a:t> `mv sp, a0` </a:t>
            </a:r>
            <a:r>
              <a:rPr lang="zh-CN" altLang="en-US" sz="800"/>
              <a:t>让</a:t>
            </a:r>
            <a:r>
              <a:rPr lang="en-US" altLang="zh-CN" sz="800"/>
              <a:t> sp </a:t>
            </a:r>
            <a:r>
              <a:rPr lang="zh-CN" altLang="en-US" sz="800"/>
              <a:t>从一个任务的栈顶跳到另一个任务的栈顶</a:t>
            </a:r>
            <a:r>
              <a:rPr lang="en-US" altLang="zh-CN" sz="800"/>
              <a:t>.</a:t>
            </a:r>
            <a:endParaRPr lang="en-US" altLang="zh-CN" sz="800"/>
          </a:p>
          <a:p>
            <a:r>
              <a:rPr lang="zh-CN" altLang="en-US" sz="800"/>
              <a:t>之后</a:t>
            </a:r>
            <a:r>
              <a:rPr lang="en-US" altLang="zh-CN" sz="800"/>
              <a:t> trap.S </a:t>
            </a:r>
            <a:r>
              <a:rPr lang="zh-CN" altLang="en-US" sz="800"/>
              <a:t>从新</a:t>
            </a:r>
            <a:r>
              <a:rPr lang="en-US" altLang="zh-CN" sz="800"/>
              <a:t> sp </a:t>
            </a:r>
            <a:r>
              <a:rPr lang="zh-CN" altLang="en-US" sz="800"/>
              <a:t>处恢复寄存器</a:t>
            </a:r>
            <a:r>
              <a:rPr lang="en-US" altLang="zh-CN" sz="800"/>
              <a:t>, mret </a:t>
            </a:r>
            <a:r>
              <a:rPr lang="zh-CN" altLang="en-US" sz="800"/>
              <a:t>跳回对应任务的断点</a:t>
            </a:r>
            <a:r>
              <a:rPr lang="en-US" altLang="zh-CN" sz="800"/>
              <a:t>, </a:t>
            </a:r>
            <a:r>
              <a:rPr lang="zh-CN" altLang="en-US" sz="800"/>
              <a:t>两个任务就永远交替打印</a:t>
            </a:r>
            <a:r>
              <a:rPr lang="en-US" altLang="zh-CN" sz="800"/>
              <a:t> ABABAB...</a:t>
            </a:r>
            <a:endParaRPr lang="en-US" altLang="zh-CN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ISLIDE.ICON" val="#36637;"/>
</p:tagLst>
</file>

<file path=ppt/tags/tag2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3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4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5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6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7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8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9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10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11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12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ags/tag13.xml><?xml version="1.0" encoding="utf-8"?>
<p:tagLst xmlns:p="http://schemas.openxmlformats.org/presentationml/2006/main">
  <p:tag name="KSO_WM_DIAGRAM_VIRTUALLY_FRAME" val="{&quot;height&quot;:326.06338582677165,&quot;left&quot;:37.1999212598425,&quot;top&quot;:178.26220472440946,&quot;width&quot;:626.1757480314961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2E66"/>
      </a:accent1>
      <a:accent2>
        <a:srgbClr val="D0B296"/>
      </a:accent2>
      <a:accent3>
        <a:srgbClr val="122E66"/>
      </a:accent3>
      <a:accent4>
        <a:srgbClr val="D0B296"/>
      </a:accent4>
      <a:accent5>
        <a:srgbClr val="122E66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3018</Words>
  <Application>WPS 演示</Application>
  <PresentationFormat>宽屏</PresentationFormat>
  <Paragraphs>200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思源黑体 CN Normal</vt:lpstr>
      <vt:lpstr>Arial</vt:lpstr>
      <vt:lpstr>黑体</vt:lpstr>
      <vt:lpstr>等线</vt:lpstr>
      <vt:lpstr>Arial Black</vt:lpstr>
      <vt:lpstr>Palatino</vt:lpstr>
      <vt:lpstr>华文宋体</vt:lpstr>
      <vt:lpstr>Stencil</vt:lpstr>
      <vt:lpstr>Gabriola</vt:lpstr>
      <vt:lpstr>微软雅黑</vt:lpstr>
      <vt:lpstr>Cascadia Mono</vt:lpstr>
      <vt:lpstr>华文中宋</vt:lpstr>
      <vt:lpstr>Calibri</vt:lpstr>
      <vt:lpstr>Arial Unicode MS</vt:lpstr>
      <vt:lpstr>Palatino Linotype</vt:lpstr>
      <vt:lpstr>WPS</vt:lpstr>
      <vt:lpstr>Office 主题​​</vt:lpstr>
      <vt:lpstr>Office Theme</vt:lpstr>
      <vt:lpstr>PowerPoint 演示文稿</vt:lpstr>
      <vt:lpstr>PowerPoint 演示文稿</vt:lpstr>
      <vt:lpstr>PowerPoint 演示文稿</vt:lpstr>
      <vt:lpstr>下图是B阶段结尾的旧版NPC2. 新版加入了pipeline和全新的IFU总线机制.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azazel</dc:creator>
  <cp:lastModifiedBy>王淙豫</cp:lastModifiedBy>
  <cp:revision>35</cp:revision>
  <dcterms:created xsi:type="dcterms:W3CDTF">2023-08-09T12:44:00Z</dcterms:created>
  <dcterms:modified xsi:type="dcterms:W3CDTF">2026-03-22T01:32:22Z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